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68"/>
    <p:restoredTop sz="93904"/>
  </p:normalViewPr>
  <p:slideViewPr>
    <p:cSldViewPr snapToGrid="0" snapToObjects="1">
      <p:cViewPr varScale="1">
        <p:scale>
          <a:sx n="115" d="100"/>
          <a:sy n="115" d="100"/>
        </p:scale>
        <p:origin x="4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.spec.whatwg.or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niuse.com/" TargetMode="External"/><Relationship Id="rId5" Type="http://schemas.openxmlformats.org/officeDocument/2006/relationships/hyperlink" Target="https://validator.w3.org/" TargetMode="External"/><Relationship Id="rId4" Type="http://schemas.openxmlformats.org/officeDocument/2006/relationships/hyperlink" Target="https://developer.mozilla.org/pt-BR/docs/Web/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dp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11480"/>
            <a:ext cx="3017520" cy="10972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920240"/>
            <a:ext cx="12191695" cy="2194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029968"/>
            <a:ext cx="10789920" cy="1965960"/>
          </a:xfrm>
          <a:prstGeom prst="rect">
            <a:avLst/>
          </a:prstGeom>
          <a:noFill/>
        </p:spPr>
        <p:txBody>
          <a:bodyPr wrap="square" lIns="0" rIns="0" bIns="0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DESENVOLVIMENTO WEB · CURSO SUPERIOR DE ADS</a:t>
            </a:r>
          </a:p>
          <a:p>
            <a:pPr>
              <a:defRPr sz="33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HTML5: </a:t>
            </a:r>
            <a:r>
              <a:rPr dirty="0" err="1"/>
              <a:t>Programação</a:t>
            </a:r>
            <a:r>
              <a:rPr dirty="0"/>
              <a:t> e </a:t>
            </a:r>
            <a:r>
              <a:rPr dirty="0" err="1"/>
              <a:t>Arquitetura</a:t>
            </a:r>
            <a:r>
              <a:rPr dirty="0"/>
              <a:t> para a Web Moderna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43400"/>
            <a:ext cx="10789920" cy="10387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Professor Dr. Jean Miler Scatena</a:t>
            </a:r>
          </a:p>
          <a:p>
            <a:pPr>
              <a:defRPr sz="1550">
                <a:solidFill>
                  <a:srgbClr val="334155"/>
                </a:solidFill>
                <a:latin typeface="Segoe UI"/>
              </a:defRPr>
            </a:pPr>
            <a:r>
              <a:rPr dirty="0"/>
              <a:t>Email: </a:t>
            </a:r>
            <a:r>
              <a:rPr dirty="0" err="1"/>
              <a:t>jean.scatena</a:t>
            </a:r>
            <a:r>
              <a:rPr dirty="0"/>
              <a:t>@</a:t>
            </a:r>
            <a:r>
              <a:rPr lang="pt-BR" dirty="0" err="1"/>
              <a:t>cps</a:t>
            </a:r>
            <a:r>
              <a:rPr dirty="0"/>
              <a:t>.</a:t>
            </a:r>
            <a:r>
              <a:rPr dirty="0" err="1"/>
              <a:t>sp.gov.br</a:t>
            </a:r>
            <a:endParaRPr dirty="0"/>
          </a:p>
          <a:p>
            <a:pPr>
              <a:defRPr sz="1550">
                <a:solidFill>
                  <a:srgbClr val="334155"/>
                </a:solidFill>
                <a:latin typeface="Segoe UI"/>
              </a:defRPr>
            </a:pPr>
            <a:r>
              <a:rPr dirty="0" err="1"/>
              <a:t>Fatec</a:t>
            </a:r>
            <a:r>
              <a:rPr dirty="0"/>
              <a:t> </a:t>
            </a:r>
            <a:r>
              <a:rPr dirty="0" err="1"/>
              <a:t>Ribeirão</a:t>
            </a:r>
            <a:r>
              <a:rPr dirty="0"/>
              <a:t> Preto · </a:t>
            </a:r>
            <a:r>
              <a:rPr dirty="0" err="1"/>
              <a:t>Tecnologia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Análise</a:t>
            </a:r>
            <a:r>
              <a:rPr dirty="0"/>
              <a:t> e </a:t>
            </a:r>
            <a:r>
              <a:rPr dirty="0" err="1"/>
              <a:t>Desenvolvimento</a:t>
            </a:r>
            <a:r>
              <a:rPr dirty="0"/>
              <a:t> de Sistemas</a:t>
            </a:r>
          </a:p>
          <a:p>
            <a:pPr>
              <a:defRPr sz="1550" b="1">
                <a:solidFill>
                  <a:srgbClr val="B91C1C"/>
                </a:solidFill>
                <a:latin typeface="Segoe UI"/>
              </a:defRPr>
            </a:pPr>
            <a:r>
              <a:rPr dirty="0" err="1"/>
              <a:t>Semestre</a:t>
            </a:r>
            <a:r>
              <a:rPr dirty="0"/>
              <a:t> </a:t>
            </a:r>
            <a:r>
              <a:rPr dirty="0" err="1"/>
              <a:t>Letivo</a:t>
            </a:r>
            <a:r>
              <a:rPr dirty="0"/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Evolução do HTML: Da Criação em 1991 ao Living Standard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02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história do HTML reflete a transição da Web de repositório estático de documentos para a maior plataforma de software do mundo.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712464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70245" y="1844549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1991 - 1997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6979" y="1492658"/>
            <a:ext cx="2235707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sz="1500" dirty="0"/>
              <a:t>1. A Era dos</a:t>
            </a:r>
            <a:r>
              <a:rPr lang="pt-BR" sz="1500" dirty="0"/>
              <a:t> </a:t>
            </a:r>
            <a:r>
              <a:rPr sz="1500" dirty="0" err="1"/>
              <a:t>Documentos</a:t>
            </a:r>
            <a:endParaRPr sz="1500" dirty="0"/>
          </a:p>
        </p:txBody>
      </p:sp>
      <p:sp>
        <p:nvSpPr>
          <p:cNvPr id="12" name="TextBox 11"/>
          <p:cNvSpPr txBox="1"/>
          <p:nvPr/>
        </p:nvSpPr>
        <p:spPr>
          <a:xfrm>
            <a:off x="603504" y="2240921"/>
            <a:ext cx="3255264" cy="33342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 1.0 (1991):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Criado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Tim Berners-Lee no CERN.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Apenas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~18 tags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básicas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compartilhar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papers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científicos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hiperlinks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 2.0 (1995, IETF):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Primeira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padronização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(RFC 1866).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Introduziu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formulários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(&lt;form&gt;, &lt;input&gt;)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suporte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tabelas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rudimentares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 3.2 (1997, W3C):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Criação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consórcio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W3C.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Introduziu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tags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visuais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(&lt;font&gt;, &lt;center&gt;)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'Guerra dos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Navegadores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' (Netscape vs Internet Explorer).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71600"/>
            <a:ext cx="3706370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697110" y="1812645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1999 - 2004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506528"/>
            <a:ext cx="192755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sz="1500" dirty="0"/>
              <a:t>2. A Era da </a:t>
            </a:r>
            <a:r>
              <a:rPr sz="1500" dirty="0" err="1"/>
              <a:t>Separação</a:t>
            </a:r>
            <a:endParaRPr sz="1500" dirty="0"/>
          </a:p>
        </p:txBody>
      </p:sp>
      <p:sp>
        <p:nvSpPr>
          <p:cNvPr id="16" name="TextBox 15"/>
          <p:cNvSpPr txBox="1"/>
          <p:nvPr/>
        </p:nvSpPr>
        <p:spPr>
          <a:xfrm>
            <a:off x="4462272" y="2240921"/>
            <a:ext cx="3255264" cy="3103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 4.01 (1999):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Marco divisor.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Consagrou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CSS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estilização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deprecava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tags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visuais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Dividido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3 DTDs (Strict, Transitional, Frameset).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O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Desvio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do XHTML 1.0/1.1 (2000):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W3C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tentou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transformar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HTML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aplicação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estrita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XML.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Regras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draconianas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sintaxe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causaram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rejeição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mercado.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Impasse do XHTML 2.0: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W3C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pretendia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quebrar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retrocompatibilidade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a Web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existente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61872"/>
            <a:ext cx="3687776" cy="4882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533127" y="1770113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2004 - </a:t>
            </a:r>
            <a:r>
              <a:rPr dirty="0" err="1"/>
              <a:t>Hoje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8980322" y="1506528"/>
            <a:ext cx="2064715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sz="1500" dirty="0"/>
              <a:t>3. A Era das </a:t>
            </a:r>
            <a:r>
              <a:rPr sz="1500" dirty="0" err="1"/>
              <a:t>Aplicações</a:t>
            </a:r>
            <a:endParaRPr sz="1500" dirty="0"/>
          </a:p>
        </p:txBody>
      </p:sp>
      <p:sp>
        <p:nvSpPr>
          <p:cNvPr id="20" name="TextBox 19"/>
          <p:cNvSpPr txBox="1"/>
          <p:nvPr/>
        </p:nvSpPr>
        <p:spPr>
          <a:xfrm>
            <a:off x="8330183" y="2240921"/>
            <a:ext cx="3255264" cy="31034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Criação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do WHATWG (2004):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Engenheiros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Apple, Mozilla e Opera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fundam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grupo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evoluir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HTML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mantendo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100%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retrocompatibilidade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HTML5 (2014, W3C Rec):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multimídia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nativa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plugins e APIs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poderosas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client-side.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HTML Living Standard (2019+):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Acordo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: WHATWG assume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especificação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única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contínua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existe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'HTML 6'.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 Grande Transição: HTML 4.01 vs XHTML 1.0 vs HTML5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03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Entender as diferenças de sintaxe, doctypes e comportamento de parsing evita erros de compatibilidade e legado.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916" y="1233057"/>
            <a:ext cx="11844670" cy="491171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097719" y="1536192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Análise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27049"/>
            <a:ext cx="8634679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Comparativa</a:t>
            </a:r>
            <a:r>
              <a:rPr dirty="0"/>
              <a:t> de </a:t>
            </a:r>
            <a:r>
              <a:rPr dirty="0" err="1"/>
              <a:t>Especificações</a:t>
            </a:r>
            <a:endParaRPr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590339"/>
              </p:ext>
            </p:extLst>
          </p:nvPr>
        </p:nvGraphicFramePr>
        <p:xfrm>
          <a:off x="594360" y="1881999"/>
          <a:ext cx="11000232" cy="414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Característica</a:t>
                      </a:r>
                      <a:r>
                        <a:rPr sz="1400" dirty="0"/>
                        <a:t> / </a:t>
                      </a:r>
                      <a:r>
                        <a:rPr sz="1400" dirty="0" err="1"/>
                        <a:t>Regra</a:t>
                      </a:r>
                      <a:endParaRPr sz="1400"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/>
                        <a:t>HTML 4.01 (1999)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/>
                        <a:t>XHTML 1.0 (2000)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/>
                        <a:t>HTML5 Living Standard (</a:t>
                      </a:r>
                      <a:r>
                        <a:rPr sz="1400" dirty="0" err="1"/>
                        <a:t>Atual</a:t>
                      </a:r>
                      <a:r>
                        <a:rPr sz="1400" dirty="0"/>
                        <a:t>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Declaração</a:t>
                      </a:r>
                      <a:r>
                        <a:rPr sz="1400" dirty="0"/>
                        <a:t> DOCTYPE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Longa com DTD (Strict / Transitional / Frameset)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Complexa com XML DTD e xmlns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&lt;!DOCTYPE html&gt; (Curta, universal, case-insensitive)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Tags </a:t>
                      </a:r>
                      <a:r>
                        <a:rPr sz="1400" dirty="0" err="1"/>
                        <a:t>Vazias</a:t>
                      </a:r>
                      <a:r>
                        <a:rPr sz="1400" dirty="0"/>
                        <a:t> (Void)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</a:t>
                      </a:r>
                      <a:r>
                        <a:rPr sz="1400" dirty="0" err="1"/>
                        <a:t>img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src</a:t>
                      </a:r>
                      <a:r>
                        <a:rPr sz="1400" dirty="0"/>
                        <a:t>="..."&gt; (</a:t>
                      </a:r>
                      <a:r>
                        <a:rPr sz="1400" dirty="0" err="1"/>
                        <a:t>Não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fecha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</a:t>
                      </a:r>
                      <a:r>
                        <a:rPr sz="1400" dirty="0" err="1"/>
                        <a:t>img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src</a:t>
                      </a:r>
                      <a:r>
                        <a:rPr sz="1400" dirty="0"/>
                        <a:t>="..." /&gt; (Barra final OBRIGATÓRIA)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&lt;img src="..."&gt; (Barra final opcional e ignorada)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Sensibilidade</a:t>
                      </a:r>
                      <a:r>
                        <a:rPr sz="1400" dirty="0"/>
                        <a:t> de Caixa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Case-insensitive (&lt;DIV&gt;, &lt;div&gt;)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Case-sensitive (</a:t>
                      </a:r>
                      <a:r>
                        <a:rPr sz="1400" dirty="0" err="1"/>
                        <a:t>Tudo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minúsculas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obrigatório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Case-insensitive (Boas práticas recomendam minúsculas)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Aspas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Atributos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Opcionais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valores</a:t>
                      </a:r>
                      <a:r>
                        <a:rPr sz="1400" dirty="0"/>
                        <a:t> simples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Obrigatórias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100% dos </a:t>
                      </a:r>
                      <a:r>
                        <a:rPr sz="1400" dirty="0" err="1"/>
                        <a:t>atributos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Opcionais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valores</a:t>
                      </a:r>
                      <a:r>
                        <a:rPr sz="1400" dirty="0"/>
                        <a:t> simples (</a:t>
                      </a:r>
                      <a:r>
                        <a:rPr sz="1400" dirty="0" err="1"/>
                        <a:t>Recomendado</a:t>
                      </a:r>
                      <a:r>
                        <a:rPr sz="1400" dirty="0"/>
                        <a:t> usar </a:t>
                      </a:r>
                      <a:r>
                        <a:rPr sz="1400" dirty="0" err="1"/>
                        <a:t>aspas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Tratamento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Erros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Tolerante mas imprevisível entre browsers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Draconiano</a:t>
                      </a:r>
                      <a:r>
                        <a:rPr sz="1400" dirty="0"/>
                        <a:t> (Erro fatal / Yellow Screen of Death)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Algoritmo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padronizado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recuperação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erros</a:t>
                      </a:r>
                      <a:r>
                        <a:rPr sz="1400" dirty="0"/>
                        <a:t> no parser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Modelo </a:t>
                      </a:r>
                      <a:r>
                        <a:rPr sz="1400" dirty="0" err="1"/>
                        <a:t>Multimídia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Exigia plugins externos (Flash, Java Applets)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Exigia</a:t>
                      </a:r>
                      <a:r>
                        <a:rPr sz="1400" dirty="0"/>
                        <a:t> plugins </a:t>
                      </a:r>
                      <a:r>
                        <a:rPr sz="1400" dirty="0" err="1"/>
                        <a:t>externos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Nativo (&lt;video&gt;, &lt;audio&gt;, &lt;canvas&gt;, WebGL, Web Audio)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Foco </a:t>
                      </a:r>
                      <a:r>
                        <a:rPr sz="1400" dirty="0" err="1"/>
                        <a:t>Arquitetural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Marcação de documentos e hipertexto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Estrutura sintática pura e estrita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Plataforma completa de </a:t>
                      </a:r>
                      <a:r>
                        <a:rPr sz="1400" dirty="0" err="1"/>
                        <a:t>aplicações</a:t>
                      </a:r>
                      <a:r>
                        <a:rPr sz="1400" dirty="0"/>
                        <a:t> web (APIs + </a:t>
                      </a:r>
                      <a:r>
                        <a:rPr sz="1400" dirty="0" err="1"/>
                        <a:t>Semântica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Arquitetura da Web: Como a Web Funciona?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04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Web é um sistema distribuído de hipermídia baseado no modelo cliente-servidor sob protocolos TCP/IP e HTTP/HTTPS.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712464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29448" y="1488133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Protocolos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51" y="1527048"/>
            <a:ext cx="20025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Requisição</a:t>
            </a:r>
            <a:r>
              <a:rPr dirty="0"/>
              <a:t> e Rede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3255264" cy="34060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URL / URI: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Endereço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canônico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recurso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esquema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host, porta, path).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DNS Resolution: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Converte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domínio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endereço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IP (ex: 192.0.2.1).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TCP 3-Way Handshake: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Estabelece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conexão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confiável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(SYN, SYN-ACK, ACK).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TLS/HTTPS: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Criptografia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assimétrica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via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certificados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X.509.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HTTP Request: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Métodos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GET, POST, PUT, DELETE com Headers.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371600"/>
            <a:ext cx="3706370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68495" y="1488133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5725" y="1527048"/>
            <a:ext cx="222199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Servidor</a:t>
            </a:r>
            <a:r>
              <a:rPr dirty="0"/>
              <a:t> e </a:t>
            </a:r>
            <a:r>
              <a:rPr dirty="0" err="1"/>
              <a:t>Resposta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62272" y="1975104"/>
            <a:ext cx="3255264" cy="31598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▪ Servidor Web: </a:t>
            </a:r>
            <a:r>
              <a:rPr sz="1600">
                <a:solidFill>
                  <a:srgbClr val="1E293B"/>
                </a:solidFill>
                <a:latin typeface="Segoe UI"/>
              </a:rPr>
              <a:t>Apache, Nginx ou NodeJS processa o request.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▪ MIME Types: </a:t>
            </a:r>
            <a:r>
              <a:rPr sz="1600">
                <a:solidFill>
                  <a:srgbClr val="1E293B"/>
                </a:solidFill>
                <a:latin typeface="Segoe UI"/>
              </a:rPr>
              <a:t>Servidor informa Content-Type (text/html; charset=UTF-8).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▪ HTTP Status Code: </a:t>
            </a:r>
            <a:r>
              <a:rPr sz="1600">
                <a:solidFill>
                  <a:srgbClr val="1E293B"/>
                </a:solidFill>
                <a:latin typeface="Segoe UI"/>
              </a:rPr>
              <a:t>200 OK, 301 Redirect, 404 Not Found, 500 Error.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▪ Payload Stream: </a:t>
            </a:r>
            <a:r>
              <a:rPr sz="1600">
                <a:solidFill>
                  <a:srgbClr val="1E293B"/>
                </a:solidFill>
                <a:latin typeface="Segoe UI"/>
              </a:rPr>
              <a:t>HTML é transmitido em pacotes binários (bytes).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F172A"/>
                </a:solidFill>
                <a:latin typeface="Segoe UI"/>
              </a:rPr>
              <a:t>▪ Caching: </a:t>
            </a:r>
            <a:r>
              <a:rPr sz="1600">
                <a:solidFill>
                  <a:srgbClr val="1E293B"/>
                </a:solidFill>
                <a:latin typeface="Segoe UI"/>
              </a:rPr>
              <a:t>Headers Cache-Control, ETag e CDN edge caching.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8" y="1371600"/>
            <a:ext cx="3611881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462963" y="1539807"/>
            <a:ext cx="1433779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Browser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2495" y="1527048"/>
            <a:ext cx="1702612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Parsing e </a:t>
            </a:r>
            <a:r>
              <a:rPr dirty="0" err="1"/>
              <a:t>Renderização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330183" y="2114250"/>
            <a:ext cx="3255264" cy="29136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Tokenização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Browser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converte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stream de bytes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tokens HTML.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Árvore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DOM: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Cria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o Document Object Model (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nós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hierarquia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CSSOM: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Processa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CSS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gera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árvore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estilos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Render Tree: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Combinação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de DOM + CSSOM (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elementos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visíveis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).</a:t>
            </a: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Layout &amp; Paint: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Calcula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coordenadas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de pixels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desenha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GPU.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O que é HTML5? Conceito e Evolução Arquitetural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05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HTML5 não é apenas uma linguagem de tags — é a plataforma aberta de aplicações que transformou a Web moderna.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61027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Arquitetura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820363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A </a:t>
            </a:r>
            <a:r>
              <a:rPr dirty="0" err="1"/>
              <a:t>Tríade</a:t>
            </a:r>
            <a:r>
              <a:rPr dirty="0"/>
              <a:t> Fundamental do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HTML (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Estrutura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e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Semântica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): 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Define o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cada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título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artigo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botão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tabela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). NUNCA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deve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ser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usado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estilo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visual.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CSS (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Apresentação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e Estilo):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Controla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layout, cores,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tipografia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animações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responsividade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(Media Queries, Flexbox, CSS Grid).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JavaScript (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Comportamento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):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Adiciona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lógica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dinâmica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manipula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o DOM,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consome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APIs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assíncronas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(Fetch)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reage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eventos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Regra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de Ouro: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Separação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estrita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responsabilidades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—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código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desacoplado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manutenível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acessível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19841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Evolução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4045305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HTML5: </a:t>
            </a:r>
            <a:r>
              <a:rPr dirty="0" err="1"/>
              <a:t>Ruptura</a:t>
            </a:r>
            <a:r>
              <a:rPr dirty="0"/>
              <a:t> vs Legado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37548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Fim dos Plugins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Proprietários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Substituiu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Flash, Silverlight e Java Applets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multimídia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nativa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(&lt;video&gt;, &lt;audio&gt;, &lt;canvas&gt;).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WHATWG Living Standard: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existe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'HTML6'. O HTML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um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padrão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vivo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mantido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continuamente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browsers (Chrome, Firefox, Safari).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Semântica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 Real: 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Tags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como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&lt;header&gt;, &lt;main&gt;, &lt;article&gt;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browsers 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entendem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nativamente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endParaRPr lang="pt-BR" sz="16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  <a:latin typeface="Segoe UI"/>
              </a:rPr>
              <a:t>▪ APIs </a:t>
            </a:r>
            <a:r>
              <a:rPr sz="1600" b="1" dirty="0" err="1">
                <a:solidFill>
                  <a:srgbClr val="0F172A"/>
                </a:solidFill>
                <a:latin typeface="Segoe UI"/>
              </a:rPr>
              <a:t>Integradas</a:t>
            </a:r>
            <a:r>
              <a:rPr sz="16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Web Storage, Geolocation, Web Workers, Canvas 2D, Drag and Drop, </a:t>
            </a:r>
            <a:r>
              <a:rPr sz="1600" dirty="0" err="1">
                <a:solidFill>
                  <a:srgbClr val="1E293B"/>
                </a:solidFill>
                <a:latin typeface="Segoe UI"/>
              </a:rPr>
              <a:t>WebSockets</a:t>
            </a:r>
            <a:r>
              <a:rPr sz="16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Anatomia de um Elemento HTML: Sintaxe e Atributos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06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Todo documento HTML é construído por uma árvore hierárquica de nós chamados elementos, formados por tags, atributos e conteúdo.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43584"/>
            <a:ext cx="5806440" cy="4901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4829" y="1442411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Sintaxe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98" y="1452618"/>
            <a:ext cx="438912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Estrutura</a:t>
            </a:r>
            <a:r>
              <a:rPr dirty="0"/>
              <a:t> do </a:t>
            </a:r>
            <a:r>
              <a:rPr dirty="0" err="1"/>
              <a:t>Elemento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94360" y="1975104"/>
            <a:ext cx="5440680" cy="1143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75104"/>
            <a:ext cx="54406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 de Elemento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04288"/>
            <a:ext cx="5184648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Tag abertura + Atributos + Conteúdo + Tag fechamento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href="https://fatec.sp.gov.br" target="_blank"&gt;Fatec&lt;/a&gt;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27832"/>
            <a:ext cx="5440680" cy="27443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Tag de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Abertura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Delimita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início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(ex: &lt;a&gt;, &lt;p&gt;, &lt;section&gt;).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Atributos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(Nome="Valor"):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Metadados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modificam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comportamento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passam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propriedades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adicionais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Conteúdo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imagens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outros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filhos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aninhados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Tag de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Fechamento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Indica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fim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barra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inclinada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(&lt;/a&gt;).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Elementos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Void (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Vazios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possuem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tag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fechamento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conteúdo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(ex: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img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hr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&lt;input&gt;, &lt;meta&gt;).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5" y="1216153"/>
            <a:ext cx="5562295" cy="49286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92263" y="1343663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 err="1"/>
              <a:t>Referência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6653431" y="1388820"/>
            <a:ext cx="3785616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Globais</a:t>
            </a:r>
            <a:r>
              <a:rPr dirty="0"/>
              <a:t> </a:t>
            </a:r>
            <a:r>
              <a:rPr dirty="0" err="1"/>
              <a:t>Essenciais</a:t>
            </a:r>
            <a:endParaRPr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1202893"/>
              </p:ext>
            </p:extLst>
          </p:nvPr>
        </p:nvGraphicFramePr>
        <p:xfrm>
          <a:off x="6537960" y="1783710"/>
          <a:ext cx="5056632" cy="412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Atributo</a:t>
                      </a:r>
                      <a:endParaRPr sz="1400" dirty="0"/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Finalidade</a:t>
                      </a:r>
                      <a:endParaRPr sz="1400" dirty="0"/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/>
                        <a:t>Exemplo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Identificador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único</a:t>
                      </a:r>
                      <a:r>
                        <a:rPr sz="1400" dirty="0"/>
                        <a:t> global no </a:t>
                      </a:r>
                      <a:r>
                        <a:rPr sz="1400" dirty="0" err="1"/>
                        <a:t>documento</a:t>
                      </a:r>
                      <a:endParaRPr sz="14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id="main-nav"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class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Classes CSS (</a:t>
                      </a:r>
                      <a:r>
                        <a:rPr sz="1400" dirty="0" err="1"/>
                        <a:t>múltiplas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separadas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espaço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class="btn btn-primary"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data-*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Armazena</a:t>
                      </a:r>
                      <a:r>
                        <a:rPr sz="1400" dirty="0"/>
                        <a:t> dados </a:t>
                      </a:r>
                      <a:r>
                        <a:rPr sz="1400" dirty="0" err="1"/>
                        <a:t>customizados</a:t>
                      </a:r>
                      <a:r>
                        <a:rPr sz="1400" dirty="0"/>
                        <a:t> p/ JavaScript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data-user-id="42"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lang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Declara</a:t>
                      </a:r>
                      <a:r>
                        <a:rPr sz="1400" dirty="0"/>
                        <a:t> o </a:t>
                      </a:r>
                      <a:r>
                        <a:rPr sz="1400" dirty="0" err="1"/>
                        <a:t>idioma</a:t>
                      </a:r>
                      <a:r>
                        <a:rPr sz="1400" dirty="0"/>
                        <a:t> do </a:t>
                      </a:r>
                      <a:r>
                        <a:rPr sz="1400" dirty="0" err="1"/>
                        <a:t>conteúdo</a:t>
                      </a:r>
                      <a:r>
                        <a:rPr sz="1400" dirty="0"/>
                        <a:t> do </a:t>
                      </a:r>
                      <a:r>
                        <a:rPr sz="1400" dirty="0" err="1"/>
                        <a:t>nó</a:t>
                      </a:r>
                      <a:endParaRPr sz="14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lang="en-US"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title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Tooltip </a:t>
                      </a:r>
                      <a:r>
                        <a:rPr sz="1400" dirty="0" err="1"/>
                        <a:t>informativo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passar</a:t>
                      </a:r>
                      <a:r>
                        <a:rPr sz="1400" dirty="0"/>
                        <a:t> o cursor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title="Clique para </a:t>
                      </a:r>
                      <a:r>
                        <a:rPr sz="1400" dirty="0" err="1"/>
                        <a:t>enviar</a:t>
                      </a:r>
                      <a:r>
                        <a:rPr sz="1400" dirty="0"/>
                        <a:t>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hidden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Oculta o elemento visualmente e do leitor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hidden (</a:t>
                      </a:r>
                      <a:r>
                        <a:rPr sz="1400" dirty="0" err="1"/>
                        <a:t>booleano</a:t>
                      </a:r>
                      <a:r>
                        <a:rPr sz="140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tabindex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Controla a ordem de navegação por teclado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tabindex</a:t>
                      </a:r>
                      <a:r>
                        <a:rPr sz="1400" dirty="0"/>
                        <a:t>="0"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Estrutura Canônica do Documento HTML5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07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estrutura mínima obrigatória garante que o navegador renderize em Standards Mode e interprete corretamente caracteres e viewport.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index.html — Boilerplate Canônico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3387" y="1734180"/>
            <a:ext cx="5299528" cy="44884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&lt;!DOCTYPE html&gt;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&lt;html lang="pt-BR"&gt;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&lt;head&gt;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&lt;meta charset="UTF-8"&gt;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&lt;meta name="viewport"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      content="width=device-width, initial-scale=1.0"&gt;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&lt;meta name="description" content="Portal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Fatec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&lt;title&gt;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Desenvolvimento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 Web —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Fatec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&lt;/title&gt;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&lt;link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rel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="stylesheet"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href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="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styles.css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&lt;/head&gt;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&lt;body&gt;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&lt;header&gt;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  &lt;h1&gt;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Desenvolvimento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 Web I&lt;/h1&gt;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&lt;/header&gt;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&lt;main&gt;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  &lt;p&gt;Bem-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vindo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 à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disciplina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 de HTML5!&lt;/p&gt;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&lt;/main&gt;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  &lt;script 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src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="</a:t>
            </a:r>
            <a:r>
              <a:rPr sz="1300" b="1" dirty="0" err="1">
                <a:solidFill>
                  <a:schemeClr val="bg1"/>
                </a:solidFill>
                <a:latin typeface="Consolas"/>
              </a:rPr>
              <a:t>app.js</a:t>
            </a:r>
            <a:r>
              <a:rPr sz="1300" b="1" dirty="0">
                <a:solidFill>
                  <a:schemeClr val="bg1"/>
                </a:solidFill>
                <a:latin typeface="Consolas"/>
              </a:rPr>
              <a:t>" defer&gt;&lt;/script&gt;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  &lt;/body&gt;</a:t>
            </a:r>
          </a:p>
          <a:p>
            <a:pPr>
              <a:spcAft>
                <a:spcPts val="150"/>
              </a:spcAft>
            </a:pPr>
            <a:r>
              <a:rPr sz="1300" b="1" dirty="0">
                <a:solidFill>
                  <a:schemeClr val="bg1"/>
                </a:solidFill>
                <a:latin typeface="Consolas"/>
              </a:rPr>
              <a:t>&lt;/html&gt;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444752"/>
            <a:ext cx="519379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394899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Arquitetura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0369" y="1527048"/>
            <a:ext cx="3573475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Análise</a:t>
            </a:r>
            <a:r>
              <a:rPr dirty="0"/>
              <a:t> Técnica dos </a:t>
            </a:r>
            <a:r>
              <a:rPr dirty="0" err="1"/>
              <a:t>Elementos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1975104"/>
            <a:ext cx="4919472" cy="37702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&lt;!DOCTYPE html&gt;: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Informa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browser para usar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padrão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HTML5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modo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estrito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(Standards Mode),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desativando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'Quirks Mode'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legado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endParaRPr lang="pt-BR" sz="15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&lt;html lang="pt-BR"&gt;: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raiz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lang define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idioma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corretores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ortográficos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tradutores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endParaRPr lang="pt-BR" sz="15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&lt;head&gt;: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Container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metadados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scripts,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folhas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estilo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título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instruções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parsing.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visível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diretamente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endParaRPr lang="pt-BR" sz="1500" b="1" dirty="0">
              <a:solidFill>
                <a:srgbClr val="0F172A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&lt;body&gt;: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Contém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conteúdo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renderizável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visível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tecnologias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assistivas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janela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O &lt;head&gt; Técnico: Metadados, SEO, Viewport e Performance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08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&lt;head&gt; é o painel de controle do documento — configura como motores de busca, redes sociais e navegadores tratam a página.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079" y="1371600"/>
            <a:ext cx="3891728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81904" y="1495149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Essencial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297" y="1542629"/>
            <a:ext cx="2077516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Configuração</a:t>
            </a:r>
            <a:r>
              <a:rPr dirty="0"/>
              <a:t> &amp; Viewport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" y="2409429"/>
            <a:ext cx="3255264" cy="28725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&lt;meta charset="UTF-8"&gt;: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Codificação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universal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caracteres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acentos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emojis). Deve ser o 1º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dentro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&lt;head&gt;.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&lt;meta name="viewport"&gt;: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content="width=device-width, initial-scale=1.0" — Impede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mobile deem zoom out de desktop; base do Responsive Web Design.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&lt;title&gt;: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Título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aba do browser, bookmark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resultado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principal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motores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busca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(Google).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11767" y="1293861"/>
            <a:ext cx="3801428" cy="48509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703465" y="1472967"/>
            <a:ext cx="135879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Redes &amp; Busca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3692" y="1538400"/>
            <a:ext cx="1777593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SEO &amp; Open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409429"/>
            <a:ext cx="3255264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&lt;meta name="description"&gt;: </a:t>
            </a:r>
            <a:r>
              <a:rPr sz="1500">
                <a:solidFill>
                  <a:srgbClr val="1E293B"/>
                </a:solidFill>
                <a:latin typeface="Segoe UI"/>
              </a:rPr>
              <a:t>Resumo de até 160 caracteres exibido na SERP do Google.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&lt;meta property="og:title"&gt;: </a:t>
            </a:r>
            <a:r>
              <a:rPr sz="1500">
                <a:solidFill>
                  <a:srgbClr val="1E293B"/>
                </a:solidFill>
                <a:latin typeface="Segoe UI"/>
              </a:rPr>
              <a:t>Open Graph Protocol (Facebook, WhatsApp, LinkedIn) para cards ricos de compartilhamento.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&lt;meta property="og:image"&gt;: </a:t>
            </a:r>
            <a:r>
              <a:rPr sz="1500">
                <a:solidFill>
                  <a:srgbClr val="1E293B"/>
                </a:solidFill>
                <a:latin typeface="Segoe UI"/>
              </a:rPr>
              <a:t>Imagem de thumbnail exibida em links compartilhados em redes sociais.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&lt;link rel="canonical"&gt;: </a:t>
            </a:r>
            <a:r>
              <a:rPr sz="1500">
                <a:solidFill>
                  <a:srgbClr val="1E293B"/>
                </a:solidFill>
                <a:latin typeface="Segoe UI"/>
              </a:rPr>
              <a:t>Evita penalização por conteúdo duplicado no Google.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4615" y="1293861"/>
            <a:ext cx="3867040" cy="4850907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855758" y="1472967"/>
            <a:ext cx="1283817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Carregamento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5264" y="1538400"/>
            <a:ext cx="1852574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</a:t>
            </a:r>
            <a:r>
              <a:rPr dirty="0" err="1"/>
              <a:t>Recursos</a:t>
            </a:r>
            <a:r>
              <a:rPr dirty="0"/>
              <a:t> &amp; Performance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0" y="2409429"/>
            <a:ext cx="3255264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&lt;link rel="stylesheet"&gt;: </a:t>
            </a:r>
            <a:r>
              <a:rPr sz="1500">
                <a:solidFill>
                  <a:srgbClr val="1E293B"/>
                </a:solidFill>
                <a:latin typeface="Segoe UI"/>
              </a:rPr>
              <a:t>Carrega arquivos CSS externos (bloqueia renderização até o parsing).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&lt;link rel="preload"&gt;: </a:t>
            </a:r>
            <a:r>
              <a:rPr sz="1500">
                <a:solidFill>
                  <a:srgbClr val="1E293B"/>
                </a:solidFill>
                <a:latin typeface="Segoe UI"/>
              </a:rPr>
              <a:t>Prioriza o download de fontes críticas (WOFF2) ou imagens de hero banner.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&lt;script defer&gt;: </a:t>
            </a:r>
            <a:r>
              <a:rPr sz="1500">
                <a:solidFill>
                  <a:srgbClr val="1E293B"/>
                </a:solidFill>
                <a:latin typeface="Segoe UI"/>
              </a:rPr>
              <a:t>Baixa o script em paralelo e executa SOMENTE após o DOM estar 100% parseado (recomendado).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&lt;script async&gt;: </a:t>
            </a:r>
            <a:r>
              <a:rPr sz="1500">
                <a:solidFill>
                  <a:srgbClr val="1E293B"/>
                </a:solidFill>
                <a:latin typeface="Segoe UI"/>
              </a:rPr>
              <a:t>Baixa em paralelo e executa imediatamente ao terminar (ideal p/ analytics).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Fluxo de Texto: Parágrafos &lt;p&gt;, Quebras &lt;br&gt; e Separação &lt;hr&gt;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09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Dominar o fluxo natural de texto evita o abuso de tags estruturais para fins visuais que devem pertencer exclusivamente ao CSS.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97172"/>
            <a:ext cx="3642362" cy="48475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636522" y="1408176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Bloco Semântico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055" y="1527048"/>
            <a:ext cx="162763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</a:t>
            </a:r>
            <a:r>
              <a:rPr dirty="0" err="1"/>
              <a:t>Parágrafo</a:t>
            </a:r>
            <a:r>
              <a:rPr dirty="0"/>
              <a:t> &lt;p&gt;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75104"/>
            <a:ext cx="3273552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Parágrafos Semânticos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04288"/>
            <a:ext cx="3017520" cy="11887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&lt;p&gt;O HTML5 foi lançado em 2014.&lt;/p&gt;</a:t>
            </a:r>
          </a:p>
          <a:p>
            <a:pPr>
              <a:spcAft>
                <a:spcPts val="150"/>
              </a:spcAft>
            </a:pPr>
            <a:endParaRPr sz="115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&lt;p&gt;Ele unificou APIs nativas e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eliminou plugins legados.&lt;/p&gt;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21024"/>
            <a:ext cx="3273552" cy="21800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Bloco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estrutural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Representa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um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parágrafo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textual com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sentido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completo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Margin Collapse: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Espaçamento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vertical entre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parágrafos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colapsa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nativamente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Anti-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padrão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NUNCA use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múltiplos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vez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&lt;p&gt;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separar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6511" y="1216152"/>
            <a:ext cx="3819141" cy="49286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492537" y="1366238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Quebra de Linha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1885" y="1527048"/>
            <a:ext cx="1627632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Quebra de </a:t>
            </a:r>
            <a:r>
              <a:rPr dirty="0" err="1"/>
              <a:t>Linha</a:t>
            </a:r>
            <a:r>
              <a:rPr dirty="0"/>
              <a:t> &lt;</a:t>
            </a:r>
            <a:r>
              <a:rPr dirty="0" err="1"/>
              <a:t>br</a:t>
            </a:r>
            <a:r>
              <a:rPr dirty="0"/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975104"/>
            <a:ext cx="3273552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53128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Uso Correto de &lt;br&gt;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304288"/>
            <a:ext cx="3017520" cy="11887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&lt;address&gt;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Fatec Ribeirão Preto&lt;br&gt;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Av. Pio XII, 1255&lt;br&gt;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Ribeirão Preto - SP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&lt;/address&gt;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621024"/>
            <a:ext cx="3273552" cy="19492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Uso estrito: </a:t>
            </a:r>
            <a:r>
              <a:rPr sz="1500">
                <a:solidFill>
                  <a:srgbClr val="1E293B"/>
                </a:solidFill>
                <a:latin typeface="Segoe UI"/>
              </a:rPr>
              <a:t>Apenas onde a quebra é parte intrínseca do conteúdo (endereços, poemas, letras).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Elemento Void: </a:t>
            </a:r>
            <a:r>
              <a:rPr sz="1500">
                <a:solidFill>
                  <a:srgbClr val="1E293B"/>
                </a:solidFill>
                <a:latin typeface="Segoe UI"/>
              </a:rPr>
              <a:t>Não tem fechamento nem conteúdo.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Regra: </a:t>
            </a:r>
            <a:r>
              <a:rPr sz="1500">
                <a:solidFill>
                  <a:srgbClr val="1E293B"/>
                </a:solidFill>
                <a:latin typeface="Segoe UI"/>
              </a:rPr>
              <a:t>NUNCA use &lt;br&gt; para gerar margem visual (use CSS margin-bottom).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4041" y="1216152"/>
            <a:ext cx="3727710" cy="49286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682019" y="1300575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Transição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9163" y="1527048"/>
            <a:ext cx="2077516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Quebra </a:t>
            </a:r>
            <a:r>
              <a:rPr dirty="0" err="1"/>
              <a:t>Temática</a:t>
            </a:r>
            <a:r>
              <a:rPr dirty="0"/>
              <a:t> &lt;</a:t>
            </a:r>
            <a:r>
              <a:rPr dirty="0" err="1"/>
              <a:t>hr</a:t>
            </a:r>
            <a:r>
              <a:rPr dirty="0"/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975104"/>
            <a:ext cx="3273552" cy="15544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Thematic Break no HTML5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304288"/>
            <a:ext cx="3017520" cy="11887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&lt;article&gt;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&lt;p&gt;Cena 1: No laboratório...&lt;/p&gt;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&lt;hr&gt; &lt;!-- Mudança de cena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&lt;p&gt;Cena 2: No dia seguinte...&lt;/p&gt;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&lt;/article&gt;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621024"/>
            <a:ext cx="3273552" cy="1718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No HTML4: </a:t>
            </a:r>
            <a:r>
              <a:rPr sz="1500">
                <a:solidFill>
                  <a:srgbClr val="1E293B"/>
                </a:solidFill>
                <a:latin typeface="Segoe UI"/>
              </a:rPr>
              <a:t>Era 'Horizontal Rule' (linha decorativa).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No HTML5: </a:t>
            </a:r>
            <a:r>
              <a:rPr sz="1500">
                <a:solidFill>
                  <a:srgbClr val="1E293B"/>
                </a:solidFill>
                <a:latin typeface="Segoe UI"/>
              </a:rPr>
              <a:t>É 'Thematic Break' (mudança de assunto/cena em nível de parágrafo).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Acessibilidade: </a:t>
            </a:r>
            <a:r>
              <a:rPr sz="1500">
                <a:solidFill>
                  <a:srgbClr val="1E293B"/>
                </a:solidFill>
                <a:latin typeface="Segoe UI"/>
              </a:rPr>
              <a:t>Leitores de tela anunciam uma transição de tópico.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Hipertexto e Âncoras (&lt;a href&gt;): Tipos de URL e Protocolos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10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elemento &lt;a&gt; (anchor) é o alicerce fundamental que conecta a World Wide Web através do hipertexto.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243584"/>
            <a:ext cx="5652268" cy="4901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59153" y="1408176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Navegação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Tipos</a:t>
            </a:r>
            <a:r>
              <a:rPr dirty="0"/>
              <a:t> de URLs no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href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Exemplos de URLs e Fragmentos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89204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&lt;!-- 1. URL Absoluta (Sites Externos)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href="https://developer.mozilla.org"&gt;MDN&lt;/a&gt;</a:t>
            </a:r>
          </a:p>
          <a:p>
            <a:pPr>
              <a:spcAft>
                <a:spcPts val="150"/>
              </a:spcAft>
            </a:pPr>
            <a:endParaRPr sz="12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&lt;!-- 2. URL Relativa (Mesmo Domínio)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href="/aulas/html5.html"&gt;Aula de HTML5&lt;/a&gt;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href="../contato.html"&gt;Voltar p/ Contato&lt;/a&gt;</a:t>
            </a:r>
          </a:p>
          <a:p>
            <a:pPr>
              <a:spcAft>
                <a:spcPts val="150"/>
              </a:spcAft>
            </a:pPr>
            <a:endParaRPr sz="12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&lt;!-- 3. Âncora de Fragmento (Bookmark)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href="#matricula"&gt;Ir para Inscrição&lt;/a&gt;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&lt;section id="matricula"&gt;...&lt;/section&gt;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507992"/>
            <a:ext cx="5148072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URLs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Relativas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Essenciais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site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funcione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localhost, staging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produção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quebrar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links.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Fragmentos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(#id):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interna suave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seções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específicas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recarregar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6043" y="1152144"/>
            <a:ext cx="5716467" cy="4992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181842" y="1303020"/>
            <a:ext cx="1808683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Integrações Nativas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3220516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Protocolos</a:t>
            </a:r>
            <a:r>
              <a:rPr dirty="0"/>
              <a:t> </a:t>
            </a:r>
            <a:r>
              <a:rPr dirty="0" err="1"/>
              <a:t>Especiais</a:t>
            </a:r>
            <a:r>
              <a:rPr dirty="0"/>
              <a:t> de 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Protocolos mailto, tel e sms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89204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Protocolo de E-mail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href="mailto:jean.scatena@fatec.sp.gov.br"&gt;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Enviar e-mail ao Professor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&lt;/a&gt;</a:t>
            </a:r>
          </a:p>
          <a:p>
            <a:pPr>
              <a:spcAft>
                <a:spcPts val="150"/>
              </a:spcAft>
            </a:pPr>
            <a:endParaRPr sz="12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Protocolo Telefônico (Smartphone)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href="tel:+551639461600"&gt;Ligue: (16) 3946-1600&lt;/a&gt;</a:t>
            </a:r>
          </a:p>
          <a:p>
            <a:pPr>
              <a:spcAft>
                <a:spcPts val="150"/>
              </a:spcAft>
            </a:pPr>
            <a:endParaRPr sz="12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Protocolo SMS / Mensagens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&lt;a href="sms:+5516999999999"&gt;Enviar SMS&lt;/a&gt;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507992"/>
            <a:ext cx="5148072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Ação no Mobile: </a:t>
            </a:r>
            <a:r>
              <a:rPr sz="1500">
                <a:solidFill>
                  <a:srgbClr val="1E293B"/>
                </a:solidFill>
                <a:latin typeface="Segoe UI"/>
              </a:rPr>
              <a:t>tel: e sms: disparam o discador nativo do telefone sem necessidade de copiar o número.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Anti-padrão: </a:t>
            </a:r>
            <a:r>
              <a:rPr sz="1500">
                <a:solidFill>
                  <a:srgbClr val="1E293B"/>
                </a:solidFill>
                <a:latin typeface="Segoe UI"/>
              </a:rPr>
              <a:t>Evite href="javascript:void(0)" — se for um botão de ação sem URL, use a tag &lt;button&gt;.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Atributos Avançados de Links: Segurança, Download e A11y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11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Links externos exigem cuidados estritos de segurança cibernética, SEO e boas práticas de acessibilidade para leitores de tela.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447" y="1243585"/>
            <a:ext cx="5720316" cy="490118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15400" y="1389888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target e o Perigo do </a:t>
            </a:r>
            <a:r>
              <a:rPr dirty="0" err="1"/>
              <a:t>Tabnabbing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Sintaxe Segura com rel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892040" cy="1691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94A3B8"/>
                </a:solidFill>
                <a:latin typeface="Consolas"/>
              </a:rPr>
              <a:t>&lt;!-- CORRETO: Protegido contra Tabnabbing --&gt;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DE047"/>
                </a:solidFill>
                <a:latin typeface="Consolas"/>
              </a:rPr>
              <a:t>&lt;a href="https://site-externo.com"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target="_blank"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rel="noopener noreferrer"&gt;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Visitar Portal Externo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&lt;/a&gt;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142232"/>
            <a:ext cx="5148072" cy="1718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O Risco de target="_blank": </a:t>
            </a:r>
            <a:r>
              <a:rPr sz="1500">
                <a:solidFill>
                  <a:srgbClr val="1E293B"/>
                </a:solidFill>
                <a:latin typeface="Segoe UI"/>
              </a:rPr>
              <a:t>A aba aberta ganha acesso ao window.opener da sua página original, podendo redirecionar o usuário para phishing.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rel="noopener": </a:t>
            </a:r>
            <a:r>
              <a:rPr sz="1500">
                <a:solidFill>
                  <a:srgbClr val="1E293B"/>
                </a:solidFill>
                <a:latin typeface="Segoe UI"/>
              </a:rPr>
              <a:t>Isola os processos e bloqueia o window.opener.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rel="noreferrer": </a:t>
            </a:r>
            <a:r>
              <a:rPr sz="1500">
                <a:solidFill>
                  <a:srgbClr val="1E293B"/>
                </a:solidFill>
                <a:latin typeface="Segoe UI"/>
              </a:rPr>
              <a:t>Impede o envio do cabeçalho HTTP Referer com a URL de origem.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11435" y="1243584"/>
            <a:ext cx="5860219" cy="490118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294315" y="1361773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Download &amp; A11y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352044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Atributo</a:t>
            </a:r>
            <a:r>
              <a:rPr dirty="0"/>
              <a:t> download e </a:t>
            </a:r>
            <a:r>
              <a:rPr dirty="0" err="1"/>
              <a:t>Acessibilidade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18288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Forçar Download com Nome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892040" cy="1463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&lt;a href="/docs/ementa-ads-2026.pdf"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 download="Ementa_Desenvolvimento_Web.pdf"&gt;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F1F5F9"/>
                </a:solidFill>
                <a:latin typeface="Consolas"/>
              </a:rPr>
              <a:t>  Baixar Ementa Oficial (PDF, 2MB)</a:t>
            </a:r>
          </a:p>
          <a:p>
            <a:pPr>
              <a:spcAft>
                <a:spcPts val="15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&lt;/a&gt;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913632"/>
            <a:ext cx="5148072" cy="1436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download="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nome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":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Força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browser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baixar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arquivo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diretamente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vez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abrir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inline.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Regra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Ouro da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Acessibilidade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NUNCA use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'Clique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aqui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'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'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Saiba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'.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listam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links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isolados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;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deve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descrever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claramente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destino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formato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arquivo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Semântica na Web: Por Que a Estrutura Importa?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12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Semântica é atribuir significado inequívoco ao conteúdo — a diferença entre uma página que apenas 'parece' certa e uma que funciona.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3283" y="1201479"/>
            <a:ext cx="5455139" cy="494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95441" y="1401797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Impacto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79476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Os</a:t>
            </a:r>
            <a:r>
              <a:rPr dirty="0"/>
              <a:t> 4 Pilares da </a:t>
            </a:r>
            <a:r>
              <a:rPr dirty="0" err="1"/>
              <a:t>Semântica</a:t>
            </a:r>
            <a:r>
              <a:rPr dirty="0"/>
              <a:t>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4828032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1.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Acessibilidade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(A11y):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(NVDA, JAWS,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VoiceOver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utilizam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elementos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rápida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regiões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(landmarks).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2. SEO (Search Engine Optimization):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Crawlers do Google e Bing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indexam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conteúdo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base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hierarquia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das tags.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3.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Manutenibilidade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Código: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Código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autoexplicativo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equipes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engenharia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reduzindo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débito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técnico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complexidade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CSS.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4. Web Scraping &amp;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Interoperabilidade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APIs,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modo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leitura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(Pocket, Safari Reader)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assistentes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inteligentes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extraiam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dados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limpos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78421" y="1201478"/>
            <a:ext cx="6193233" cy="494328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795278" y="1430683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Evolução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52744" y="1527048"/>
            <a:ext cx="4529937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Comparativo</a:t>
            </a:r>
            <a:r>
              <a:rPr dirty="0"/>
              <a:t>: Div Soup vs HTML5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975104"/>
            <a:ext cx="5650992" cy="187451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43600" y="1975104"/>
            <a:ext cx="565099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HTML4 / Div Soup (Sem Significado)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304288"/>
            <a:ext cx="5394959" cy="1508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&lt;div id="header"&gt;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&lt;div class="nav"&gt;&lt;div class="item"&gt;Início&lt;/div&gt;&lt;/div&gt;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&lt;/div&gt;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&lt;div class="content"&gt;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&lt;div class="post"&gt;&lt;div class="title"&gt;Artigo&lt;/div&gt;&lt;/div&gt;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&lt;/div&gt;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3959352"/>
            <a:ext cx="5650992" cy="20574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3959352"/>
            <a:ext cx="565099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HTML5 Semântico (Significado Nativo)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71616" y="4288536"/>
            <a:ext cx="5394959" cy="1691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&lt;header&gt;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&lt;nav&gt;&lt;ul&gt;&lt;li&gt;&lt;a href="/"&gt;Início&lt;/a&gt;&lt;/li&gt;&lt;/ul&gt;&lt;/nav&gt;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&lt;/header&gt;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&lt;main&gt;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&lt;article&gt;&lt;h2&gt;Artigo&lt;/h2&gt;&lt;/article&gt;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&lt;/main&gt;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Landmarks Estruturais: Os Blocos Fundamentais de Layout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13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Elementos de layout dividem o documento em grandes zonas estruturais padronizadas — a planta baixa da sua aplicação web.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8857" y="1307593"/>
            <a:ext cx="5986766" cy="49286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73244" y="1536192"/>
            <a:ext cx="1433779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Tags de 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73258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Principais</a:t>
            </a:r>
            <a:r>
              <a:rPr dirty="0"/>
              <a:t> Landmarks do HTML5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606879"/>
              </p:ext>
            </p:extLst>
          </p:nvPr>
        </p:nvGraphicFramePr>
        <p:xfrm>
          <a:off x="519929" y="1890040"/>
          <a:ext cx="5303520" cy="416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4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Elemento</a:t>
                      </a:r>
                      <a:endParaRPr sz="1300" dirty="0"/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/>
                        <a:t>Papel Semântico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300"/>
                        <a:t>Restrição / Regra</a:t>
                      </a:r>
                    </a:p>
                  </a:txBody>
                  <a:tcPr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&lt;header&gt;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Cabeçalho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introdutório</a:t>
                      </a:r>
                      <a:r>
                        <a:rPr sz="1300" dirty="0"/>
                        <a:t> do site </a:t>
                      </a:r>
                      <a:r>
                        <a:rPr sz="1300" dirty="0" err="1"/>
                        <a:t>ou</a:t>
                      </a:r>
                      <a:r>
                        <a:rPr sz="1300" dirty="0"/>
                        <a:t> de </a:t>
                      </a:r>
                      <a:r>
                        <a:rPr sz="1300" dirty="0" err="1"/>
                        <a:t>uma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seção</a:t>
                      </a:r>
                      <a:endParaRPr sz="13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Pode conter logo, título e nav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&lt;nav&gt;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Bloco de links de </a:t>
                      </a:r>
                      <a:r>
                        <a:rPr sz="1300" dirty="0" err="1"/>
                        <a:t>navegação</a:t>
                      </a:r>
                      <a:r>
                        <a:rPr sz="1300" dirty="0"/>
                        <a:t> principal/</a:t>
                      </a:r>
                      <a:r>
                        <a:rPr sz="1300" dirty="0" err="1"/>
                        <a:t>secundária</a:t>
                      </a:r>
                      <a:endParaRPr sz="13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Usar apenas para links de navegação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&lt;main&gt;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Conteúdo</a:t>
                      </a:r>
                      <a:r>
                        <a:rPr sz="1300" dirty="0"/>
                        <a:t> central e </a:t>
                      </a:r>
                      <a:r>
                        <a:rPr sz="1300" dirty="0" err="1"/>
                        <a:t>exclusivo</a:t>
                      </a:r>
                      <a:r>
                        <a:rPr sz="1300" dirty="0"/>
                        <a:t> do </a:t>
                      </a:r>
                      <a:r>
                        <a:rPr sz="1300" dirty="0" err="1"/>
                        <a:t>documento</a:t>
                      </a:r>
                      <a:endParaRPr sz="13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Deve ser ÚNICO </a:t>
                      </a:r>
                      <a:r>
                        <a:rPr sz="1300" dirty="0" err="1"/>
                        <a:t>por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documento</a:t>
                      </a:r>
                      <a:endParaRPr sz="13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&lt;article&gt;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Conteúdo autônomo, distribuível e independente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Blog post, </a:t>
                      </a:r>
                      <a:r>
                        <a:rPr sz="1300" dirty="0" err="1"/>
                        <a:t>notícia</a:t>
                      </a:r>
                      <a:r>
                        <a:rPr sz="1300" dirty="0"/>
                        <a:t>, card de </a:t>
                      </a:r>
                      <a:r>
                        <a:rPr sz="1300" dirty="0" err="1"/>
                        <a:t>produto</a:t>
                      </a:r>
                      <a:endParaRPr sz="13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&lt;section&gt;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Agrupamento temático de conteúdo relacionado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Sempre </a:t>
                      </a:r>
                      <a:r>
                        <a:rPr sz="1300" dirty="0" err="1"/>
                        <a:t>deve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conter</a:t>
                      </a:r>
                      <a:r>
                        <a:rPr sz="1300" dirty="0"/>
                        <a:t> um heading (H2-H6)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&lt;aside&gt;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Conteúdo periférico ou tangencial ao principal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Sidebar, links </a:t>
                      </a:r>
                      <a:r>
                        <a:rPr sz="1300" dirty="0" err="1"/>
                        <a:t>relacionados</a:t>
                      </a:r>
                      <a:r>
                        <a:rPr sz="1300" dirty="0"/>
                        <a:t>, banners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1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&lt;footer&gt;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Rodapé com copyright, autor e links legais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Pode </a:t>
                      </a:r>
                      <a:r>
                        <a:rPr sz="1300" dirty="0" err="1"/>
                        <a:t>existir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na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página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ou</a:t>
                      </a:r>
                      <a:r>
                        <a:rPr sz="1300" dirty="0"/>
                        <a:t> no article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135622" y="1371600"/>
            <a:ext cx="5811524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89336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Layout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1527048"/>
            <a:ext cx="414223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Diagrama</a:t>
            </a:r>
            <a:r>
              <a:rPr dirty="0"/>
              <a:t> </a:t>
            </a:r>
            <a:r>
              <a:rPr dirty="0" err="1"/>
              <a:t>Arquitetural</a:t>
            </a:r>
            <a:r>
              <a:rPr dirty="0"/>
              <a:t> de Página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975104"/>
            <a:ext cx="5193792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975104"/>
            <a:ext cx="519379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Esqueleto Arquitetural Típico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8816" y="2304288"/>
            <a:ext cx="4937759" cy="36118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+--------------------------------------------------+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&lt;header&gt; (Logo, Identidade, Usuário)           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  &lt;nav&gt; (Links de Navegação Principal)          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+--------------------------------------------------+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&lt;main&gt; (Conteúdo Central Exclusivo)             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|   +------------------------+ +-----------------+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  | &lt;article&gt;              | | &lt;aside&gt;         |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  |   &lt;header&gt; &lt;h2&gt;Título  | | (Sidebar /      |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  |   &lt;section&gt; Conteúdo   | |  Publicidade /  |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  |   &lt;footer&gt; Metadados   | |  Links Relac.)  |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|   +------------------------+ +-----------------+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+--------------------------------------------------+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| &lt;footer&gt; (Direitos, Contato, Mapa do Site)      |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+--------------------------------------------------+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&lt;article&gt; vs &lt;section&gt;: O Dilema Clássico de Semântica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14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distinção entre article e section é um dos tópicos mais frequentes em entrevistas técnicas de frontend e bancas de código.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532120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85969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Autônomo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045305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&lt;article&gt; — </a:t>
            </a:r>
            <a:r>
              <a:rPr dirty="0" err="1"/>
              <a:t>Conteúdo</a:t>
            </a:r>
            <a:r>
              <a:rPr dirty="0"/>
              <a:t> Independente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Definição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Canônica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Representa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composição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completa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autocontida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documento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faria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sentido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 fosse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extraída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compartilhada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isoladamente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(ex: RSS feed).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Critério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do Teste do Feed: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você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publicar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bloco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sozinho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newsletter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agregador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entenderá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precisar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resto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? Se sim,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&lt;article&gt;.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Casos de Uso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Típicos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Post de blog,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notícia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jornal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comentário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fórum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card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produto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e-commerce, widget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interativo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autônomo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1371600"/>
            <a:ext cx="5635752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469880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Contextual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89534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&lt;section&gt; — </a:t>
            </a:r>
            <a:r>
              <a:rPr dirty="0" err="1"/>
              <a:t>Divisão</a:t>
            </a:r>
            <a:r>
              <a:rPr dirty="0"/>
              <a:t> </a:t>
            </a:r>
            <a:r>
              <a:rPr dirty="0" err="1"/>
              <a:t>Temática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24109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Definição Canônica: </a:t>
            </a:r>
            <a:r>
              <a:rPr sz="1500">
                <a:solidFill>
                  <a:srgbClr val="1E293B"/>
                </a:solidFill>
                <a:latin typeface="Segoe UI"/>
              </a:rPr>
              <a:t>Representa uma seção genérica e temática de um documento. Agrupa conteúdos que possuem um propósito comum dentro daquele contexto.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Regra Obrigatória do W3C: </a:t>
            </a:r>
            <a:r>
              <a:rPr sz="1500">
                <a:solidFill>
                  <a:srgbClr val="1E293B"/>
                </a:solidFill>
                <a:latin typeface="Segoe UI"/>
              </a:rPr>
              <a:t>Toda &lt;section&gt; DEVE possuir um título (heading h2-h6) que identifique seu tema. Se não houver título temático, use &lt;div&gt;.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Aninhamento Possível: </a:t>
            </a:r>
            <a:r>
              <a:rPr sz="1500">
                <a:solidFill>
                  <a:srgbClr val="1E293B"/>
                </a:solidFill>
                <a:latin typeface="Segoe UI"/>
              </a:rPr>
              <a:t>Um &lt;article&gt; pode ter múltiplas &lt;section&gt; (ex: Introdução, Metodologia, Conclusão), e uma &lt;section&gt; pode agrupar múltiplos &lt;article&gt; (ex: Seção de Notícias Recentes).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Hierarquia de Títulos (H1 a H6) e Document Outline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15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rPr dirty="0"/>
              <a:t>Headings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devem</a:t>
            </a:r>
            <a:r>
              <a:rPr dirty="0"/>
              <a:t> ser </a:t>
            </a:r>
            <a:r>
              <a:rPr dirty="0" err="1"/>
              <a:t>escolhidos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tamanho</a:t>
            </a:r>
            <a:r>
              <a:rPr dirty="0"/>
              <a:t> visual da </a:t>
            </a:r>
            <a:r>
              <a:rPr dirty="0" err="1"/>
              <a:t>fonte</a:t>
            </a:r>
            <a:r>
              <a:rPr dirty="0"/>
              <a:t> — </a:t>
            </a:r>
            <a:r>
              <a:rPr dirty="0" err="1"/>
              <a:t>eles</a:t>
            </a:r>
            <a:r>
              <a:rPr dirty="0"/>
              <a:t> </a:t>
            </a:r>
            <a:r>
              <a:rPr dirty="0" err="1"/>
              <a:t>constroem</a:t>
            </a:r>
            <a:r>
              <a:rPr dirty="0"/>
              <a:t> o </a:t>
            </a:r>
            <a:r>
              <a:rPr dirty="0" err="1"/>
              <a:t>sumário</a:t>
            </a:r>
            <a:r>
              <a:rPr dirty="0"/>
              <a:t> </a:t>
            </a:r>
            <a:r>
              <a:rPr dirty="0" err="1"/>
              <a:t>estrutural</a:t>
            </a:r>
            <a:r>
              <a:rPr dirty="0"/>
              <a:t> e o </a:t>
            </a:r>
            <a:r>
              <a:rPr dirty="0" err="1"/>
              <a:t>índice</a:t>
            </a:r>
            <a:r>
              <a:rPr dirty="0"/>
              <a:t> de </a:t>
            </a:r>
            <a:r>
              <a:rPr dirty="0" err="1"/>
              <a:t>acessibilidade</a:t>
            </a:r>
            <a:r>
              <a:rPr dirty="0"/>
              <a:t> do </a:t>
            </a:r>
            <a:r>
              <a:rPr dirty="0" err="1"/>
              <a:t>documento</a:t>
            </a:r>
            <a:r>
              <a:rPr dirty="0"/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079" y="1444752"/>
            <a:ext cx="5610801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11065" y="1536192"/>
            <a:ext cx="135879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622745"/>
            <a:ext cx="3670401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Engenharia</a:t>
            </a:r>
            <a:r>
              <a:rPr dirty="0"/>
              <a:t> de Headings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29238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Apenas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1 &lt;h1&gt;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por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Página: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O &lt;h1&gt; define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central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documento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inteiro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Múltiplos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h1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fragmentam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relevância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SEO.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Nunca Pule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Níveis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Hierárquicos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diretamente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&lt;h2&gt; para &lt;h4&gt;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um &lt;h3&gt;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intermediário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quebra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teclado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Não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Use Headings para Estilo: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você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precisa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um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grande, use CSS (font-size: 2rem). Use tags H1-H6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exclusivamente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valor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Sumário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para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Leitores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Tela: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Pressione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'H' no NVDA: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ele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lê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lista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títulos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pular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desejada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0951" y="1371600"/>
            <a:ext cx="5610801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544860" y="1536192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Estrutura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Exemplo</a:t>
            </a:r>
            <a:r>
              <a:rPr dirty="0"/>
              <a:t> de Outline </a:t>
            </a:r>
            <a:r>
              <a:rPr dirty="0" err="1"/>
              <a:t>Hierárquico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37376" y="1975104"/>
            <a:ext cx="5148072" cy="3977639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Hierarquia Semântica Correta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04288"/>
            <a:ext cx="4472378" cy="310854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&lt;h1&gt;Desenvolvimento Web (Nível 1)&lt;/h1&gt;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&lt;section&gt;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&lt;h2&gt;HTML5 (Nível 2 - Seção)&lt;/h2&gt;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&lt;article&gt;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  &lt;h3&gt;Semântica Estrutural (Nível 3)&lt;/h3&gt;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  &lt;p&gt;Explicação detalhada...&lt;/p&gt;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  &lt;h4&gt;Landmarks (Nível 4)&lt;/h4&gt;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&lt;/article&gt;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&lt;/section&gt;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&lt;section&gt;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&lt;h2&gt;CSS3 (Nível 2 - Nova Seção)&lt;/h2&gt;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  &lt;h3&gt;Flexbox e Grid (Nível 3)&lt;/h3&gt;</a:t>
            </a:r>
          </a:p>
          <a:p>
            <a:pPr>
              <a:spcAft>
                <a:spcPts val="150"/>
              </a:spcAft>
            </a:pPr>
            <a:r>
              <a:rPr sz="1400">
                <a:solidFill>
                  <a:srgbClr val="38BDF8"/>
                </a:solidFill>
                <a:latin typeface="Consolas"/>
              </a:rPr>
              <a:t>  &lt;/section&gt;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Semântica de Texto: Significado vs Formatação Visual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16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HTML5 baniu tags puramente visuais (como &lt;font&gt;, &lt;center&gt;, &lt;big&gt;) e redefiniu elementos inline com foco estrito em significado.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6240" y="1444752"/>
            <a:ext cx="11338255" cy="4882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472623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9731959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Tabela</a:t>
            </a:r>
            <a:r>
              <a:rPr dirty="0"/>
              <a:t> </a:t>
            </a:r>
            <a:r>
              <a:rPr dirty="0" err="1"/>
              <a:t>Comparativa</a:t>
            </a:r>
            <a:r>
              <a:rPr dirty="0"/>
              <a:t> de </a:t>
            </a:r>
            <a:r>
              <a:rPr dirty="0" err="1"/>
              <a:t>Elementos</a:t>
            </a:r>
            <a:r>
              <a:rPr dirty="0"/>
              <a:t> Inline </a:t>
            </a:r>
            <a:r>
              <a:rPr dirty="0" err="1"/>
              <a:t>Semânticos</a:t>
            </a:r>
            <a:endParaRPr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203083"/>
              </p:ext>
            </p:extLst>
          </p:nvPr>
        </p:nvGraphicFramePr>
        <p:xfrm>
          <a:off x="594360" y="1900673"/>
          <a:ext cx="11000232" cy="4304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Elemento</a:t>
                      </a:r>
                      <a:endParaRPr sz="1400"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Significado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Semântico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Oficial</a:t>
                      </a:r>
                      <a:endParaRPr sz="1400"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Diferença</a:t>
                      </a:r>
                      <a:r>
                        <a:rPr sz="1400" dirty="0"/>
                        <a:t> vs Tag Visual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Exemplo</a:t>
                      </a:r>
                      <a:r>
                        <a:rPr sz="1400" dirty="0"/>
                        <a:t> de Uso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&lt;strong&gt;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Forte </a:t>
                      </a:r>
                      <a:r>
                        <a:rPr sz="1400" dirty="0" err="1"/>
                        <a:t>importância</a:t>
                      </a:r>
                      <a:r>
                        <a:rPr sz="1400" dirty="0"/>
                        <a:t>, </a:t>
                      </a:r>
                      <a:r>
                        <a:rPr sz="1400" dirty="0" err="1"/>
                        <a:t>seriedade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ou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urgência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Visualmente negrito, mas informa ao leitor de tela para mudar entonação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&lt;strong&gt;Atenção:&lt;/strong&gt; campo obrigatório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&gt;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Ênfase</a:t>
                      </a:r>
                      <a:r>
                        <a:rPr sz="1400" dirty="0"/>
                        <a:t> verbal / </a:t>
                      </a:r>
                      <a:r>
                        <a:rPr sz="1400" dirty="0" err="1"/>
                        <a:t>estresse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fonético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na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sentença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Diferente</a:t>
                      </a:r>
                      <a:r>
                        <a:rPr sz="1400" dirty="0"/>
                        <a:t> de &lt;</a:t>
                      </a:r>
                      <a:r>
                        <a:rPr sz="1400" dirty="0" err="1"/>
                        <a:t>i</a:t>
                      </a:r>
                      <a:r>
                        <a:rPr sz="1400" dirty="0"/>
                        <a:t>&gt; (</a:t>
                      </a:r>
                      <a:r>
                        <a:rPr sz="1400" dirty="0" err="1"/>
                        <a:t>itálico</a:t>
                      </a:r>
                      <a:r>
                        <a:rPr sz="1400" dirty="0"/>
                        <a:t> puro); altera o </a:t>
                      </a:r>
                      <a:r>
                        <a:rPr sz="1400" dirty="0" err="1"/>
                        <a:t>sentido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gramatical</a:t>
                      </a:r>
                      <a:r>
                        <a:rPr sz="1400" dirty="0"/>
                        <a:t> da </a:t>
                      </a:r>
                      <a:r>
                        <a:rPr sz="1400" dirty="0" err="1"/>
                        <a:t>frase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Eu &lt;em&gt;realmente&lt;/em&gt; preciso disso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&lt;mark&gt;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Texto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destacado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relevância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outro </a:t>
                      </a:r>
                      <a:r>
                        <a:rPr sz="1400" dirty="0" err="1"/>
                        <a:t>contexto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Equivalente</a:t>
                      </a:r>
                      <a:r>
                        <a:rPr sz="1400" dirty="0"/>
                        <a:t> a </a:t>
                      </a:r>
                      <a:r>
                        <a:rPr sz="1400" dirty="0" err="1"/>
                        <a:t>passar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marca-texto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amarelo</a:t>
                      </a:r>
                      <a:r>
                        <a:rPr sz="1400" dirty="0"/>
                        <a:t> (ex: </a:t>
                      </a:r>
                      <a:r>
                        <a:rPr sz="1400" dirty="0" err="1"/>
                        <a:t>termo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pesquisado</a:t>
                      </a:r>
                      <a:r>
                        <a:rPr sz="1400" dirty="0"/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Resultados para: &lt;mark&gt;HTML5&lt;/mark&gt;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&lt;small&gt;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Comentário secundário, aviso legal ou copyright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Não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significa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apenas</a:t>
                      </a:r>
                      <a:r>
                        <a:rPr sz="1400" dirty="0"/>
                        <a:t> '</a:t>
                      </a:r>
                      <a:r>
                        <a:rPr sz="1400" dirty="0" err="1"/>
                        <a:t>letra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pequena</a:t>
                      </a:r>
                      <a:r>
                        <a:rPr sz="1400" dirty="0"/>
                        <a:t>'; </a:t>
                      </a:r>
                      <a:r>
                        <a:rPr sz="1400" dirty="0" err="1"/>
                        <a:t>representa</a:t>
                      </a:r>
                      <a:r>
                        <a:rPr sz="1400" dirty="0"/>
                        <a:t> '</a:t>
                      </a:r>
                      <a:r>
                        <a:rPr sz="1400" dirty="0" err="1"/>
                        <a:t>letras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miúdas</a:t>
                      </a:r>
                      <a:r>
                        <a:rPr sz="1400" dirty="0"/>
                        <a:t>' </a:t>
                      </a:r>
                      <a:r>
                        <a:rPr sz="1400" dirty="0" err="1"/>
                        <a:t>legais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&lt;small&gt;© 2026 </a:t>
                      </a:r>
                      <a:r>
                        <a:rPr sz="1400" dirty="0" err="1"/>
                        <a:t>Fatec</a:t>
                      </a:r>
                      <a:r>
                        <a:rPr sz="1400" dirty="0"/>
                        <a:t>. Todos </a:t>
                      </a:r>
                      <a:r>
                        <a:rPr sz="1400" dirty="0" err="1"/>
                        <a:t>os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direitos</a:t>
                      </a:r>
                      <a:r>
                        <a:rPr sz="1400" dirty="0"/>
                        <a:t>.&lt;/small&gt;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&lt;code&gt; e &lt;</a:t>
                      </a:r>
                      <a:r>
                        <a:rPr sz="1400" dirty="0" err="1"/>
                        <a:t>kbd</a:t>
                      </a:r>
                      <a:r>
                        <a:rPr sz="1400" dirty="0"/>
                        <a:t>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&lt;code&gt;: Fragmento de código de computador</a:t>
                      </a:r>
                      <a:br>
                        <a:rPr sz="1400"/>
                      </a:br>
                      <a:r>
                        <a:rPr sz="1400"/>
                        <a:t>&lt;kbd&gt;: Entrada do usuário via teclado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Aplica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fonte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monoespaçada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por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padrão</a:t>
                      </a:r>
                      <a:r>
                        <a:rPr sz="1400" dirty="0"/>
                        <a:t>; </a:t>
                      </a:r>
                      <a:r>
                        <a:rPr sz="1400" dirty="0" err="1"/>
                        <a:t>semântico</a:t>
                      </a:r>
                      <a:r>
                        <a:rPr sz="1400" dirty="0"/>
                        <a:t> para </a:t>
                      </a:r>
                      <a:r>
                        <a:rPr sz="1400" dirty="0" err="1"/>
                        <a:t>documentações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técnicas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Pressione</a:t>
                      </a:r>
                      <a:r>
                        <a:rPr sz="1400" dirty="0"/>
                        <a:t> &lt;</a:t>
                      </a:r>
                      <a:r>
                        <a:rPr sz="1400" dirty="0" err="1"/>
                        <a:t>kbd</a:t>
                      </a:r>
                      <a:r>
                        <a:rPr sz="1400" dirty="0"/>
                        <a:t>&gt;Ctrl&lt;/</a:t>
                      </a:r>
                      <a:r>
                        <a:rPr sz="1400" dirty="0" err="1"/>
                        <a:t>kbd</a:t>
                      </a:r>
                      <a:r>
                        <a:rPr sz="1400" dirty="0"/>
                        <a:t>&gt; + &lt;</a:t>
                      </a:r>
                      <a:r>
                        <a:rPr sz="1400" dirty="0" err="1"/>
                        <a:t>kbd</a:t>
                      </a:r>
                      <a:r>
                        <a:rPr sz="1400" dirty="0"/>
                        <a:t>&gt;S&lt;/</a:t>
                      </a:r>
                      <a:r>
                        <a:rPr sz="1400" dirty="0" err="1"/>
                        <a:t>kbd</a:t>
                      </a:r>
                      <a:r>
                        <a:rPr sz="1400" dirty="0"/>
                        <a:t>&gt;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&lt;blockquote&gt;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Citação em bloco longo de fonte externa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Deve </a:t>
                      </a:r>
                      <a:r>
                        <a:rPr sz="1400" dirty="0" err="1"/>
                        <a:t>conter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atributo</a:t>
                      </a:r>
                      <a:r>
                        <a:rPr sz="1400" dirty="0"/>
                        <a:t> cite="URL" </a:t>
                      </a:r>
                      <a:r>
                        <a:rPr sz="1400" dirty="0" err="1"/>
                        <a:t>apontando</a:t>
                      </a:r>
                      <a:r>
                        <a:rPr sz="1400" dirty="0"/>
                        <a:t> para a </a:t>
                      </a:r>
                      <a:r>
                        <a:rPr sz="1400" dirty="0" err="1"/>
                        <a:t>fonte</a:t>
                      </a:r>
                      <a:r>
                        <a:rPr sz="1400" dirty="0"/>
                        <a:t> original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&lt;blockquote cite="https://w3.org"&gt;...&lt;/blockquote&gt;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Listas Estruturadas: &lt;ul&gt;, &lt;ol&gt; e &lt;dl&gt; (Listas de Definição)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17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Listas são as estruturas semânticas mais versáteis do HTML — base de menus, cronogramas, glossários e feeds de 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6447" y="1444752"/>
            <a:ext cx="3728625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18180" y="1536192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Conjuntos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2077516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Lista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Ordenada</a:t>
            </a:r>
            <a:r>
              <a:rPr dirty="0"/>
              <a:t> &lt;ul&gt;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75104"/>
            <a:ext cx="3273552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4360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Menus e Grupos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304288"/>
            <a:ext cx="301752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&lt;nav&gt;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&lt;ul&gt;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&lt;li&gt;&lt;a href="/"&gt;Home&lt;/a&gt;&lt;/li&gt;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  &lt;li&gt;&lt;a href="/aulas"&gt;Aulas&lt;/a&gt;&lt;/li&gt;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&lt;/ul&gt;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&lt;/nav&gt;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712464"/>
            <a:ext cx="3273552" cy="12054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Ordem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não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importa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Alterar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ordem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itens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altera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sentido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lógico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Base de Menus: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Quase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menu web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moderno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&lt;ul&gt;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estilizada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42232" y="1444752"/>
            <a:ext cx="3721608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01968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Sequências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527048"/>
            <a:ext cx="2002536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Lista </a:t>
            </a:r>
            <a:r>
              <a:rPr dirty="0" err="1"/>
              <a:t>Ordenada</a:t>
            </a:r>
            <a:r>
              <a:rPr dirty="0"/>
              <a:t> &lt;</a:t>
            </a:r>
            <a:r>
              <a:rPr dirty="0" err="1"/>
              <a:t>ol</a:t>
            </a:r>
            <a:r>
              <a:rPr dirty="0"/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53128" y="1975104"/>
            <a:ext cx="3273552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53128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Algoritmos e Rankings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304288"/>
            <a:ext cx="301752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&lt;ol start="1" type="1"&gt;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&lt;li&gt;Clonar o repositório&lt;/li&gt;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&lt;li&gt;Instalar dependências&lt;/li&gt;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&lt;li&gt;Executar npm start&lt;/li&gt;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&lt;/ol&gt;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712464"/>
            <a:ext cx="3273552" cy="120545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Ordem é crítica: </a:t>
            </a:r>
            <a:r>
              <a:rPr sz="1500">
                <a:solidFill>
                  <a:srgbClr val="1E293B"/>
                </a:solidFill>
                <a:latin typeface="Segoe UI"/>
              </a:rPr>
              <a:t>Passos de receita, algoritmos, tutoriais e classificações.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Atributos úteis: </a:t>
            </a:r>
            <a:r>
              <a:rPr sz="1500">
                <a:solidFill>
                  <a:srgbClr val="1E293B"/>
                </a:solidFill>
                <a:latin typeface="Segoe UI"/>
              </a:rPr>
              <a:t>reversed (decrescente), start="N", type="A|a|I|i|1".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91856" y="1444752"/>
            <a:ext cx="3739895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0394899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Chave-Valor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3" y="1527048"/>
            <a:ext cx="1927555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3. Lista de </a:t>
            </a:r>
            <a:r>
              <a:rPr dirty="0" err="1"/>
              <a:t>Definição</a:t>
            </a:r>
            <a:r>
              <a:rPr dirty="0"/>
              <a:t> &lt;dl&gt;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975104"/>
            <a:ext cx="3273552" cy="16459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21040" y="1975104"/>
            <a:ext cx="327355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Glossários e Metadados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2304288"/>
            <a:ext cx="3017520" cy="1280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&lt;dl&gt;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&lt;dt&gt;HTML5&lt;/dt&gt;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&lt;dd&gt;Linguagem de marcação&lt;/dd&gt;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&lt;dt&gt;CSS3&lt;/dt&gt;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&lt;dd&gt;Folhas de estilo&lt;/dd&gt;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&lt;/dl&gt;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12464"/>
            <a:ext cx="3273552" cy="1256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&lt;dt&gt; (Term): </a:t>
            </a:r>
            <a:r>
              <a:rPr sz="1500">
                <a:solidFill>
                  <a:srgbClr val="1E293B"/>
                </a:solidFill>
                <a:latin typeface="Segoe UI"/>
              </a:rPr>
              <a:t>Termo ou chave.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&lt;dd&gt; (Description): </a:t>
            </a:r>
            <a:r>
              <a:rPr sz="1500">
                <a:solidFill>
                  <a:srgbClr val="1E293B"/>
                </a:solidFill>
                <a:latin typeface="Segoe UI"/>
              </a:rPr>
              <a:t>Definição ou valor associado.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Casos de Uso: </a:t>
            </a:r>
            <a:r>
              <a:rPr sz="1500">
                <a:solidFill>
                  <a:srgbClr val="1E293B"/>
                </a:solidFill>
                <a:latin typeface="Segoe UI"/>
              </a:rPr>
              <a:t>Glossários, metadados de produtos, FAQs.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Tabelas Semânticas de Alta Precisão: Estrutura Completa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18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Tabelas existem EXCLUSIVAMENTE para dados tabulares bidimensionais — nunca para layout ou alinhamento de página.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Estrutura Semântica Completa de Tabela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1773936"/>
            <a:ext cx="5641848" cy="43342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&lt;table&gt;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&lt;caption&gt;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Tabela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1: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Notas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Finais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&lt;/caption&gt;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thead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scope="col"&gt;RA&lt;/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scope="col"&gt;Nome&lt;/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scope="col"&gt;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Média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&lt;/tr&gt;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thead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tbody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&lt;td&gt;123456&lt;/td&gt;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&lt;td&gt;Ana Carolina Silva&lt;/td&gt;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&lt;td&gt;9.5&lt;/td&gt;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&lt;/tr&gt;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tbody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tfoot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scope="row"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colspan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="2"&gt;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Média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Geral&lt;/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  &lt;td&gt;8.7&lt;/td&gt;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  &lt;/tr&gt;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tfoot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&lt;/table&gt;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83096" y="1444752"/>
            <a:ext cx="5248656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4937" y="1536192"/>
            <a:ext cx="1358798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Boas Práticas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1225" y="1654640"/>
            <a:ext cx="342351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Análise</a:t>
            </a:r>
            <a:r>
              <a:rPr dirty="0"/>
              <a:t> dos </a:t>
            </a:r>
            <a:r>
              <a:rPr dirty="0" err="1"/>
              <a:t>Elementos</a:t>
            </a:r>
            <a:r>
              <a:rPr dirty="0"/>
              <a:t> </a:t>
            </a:r>
            <a:r>
              <a:rPr dirty="0" err="1"/>
              <a:t>Tabulares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1975104"/>
            <a:ext cx="4919472" cy="25135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&lt;caption&gt;: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Título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descritivo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obrigatório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Sempre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primeiro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filho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&lt;table&gt;.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thead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Grupo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browser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repita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imprimir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longas.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tbody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Corpo com as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reais de dados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sistema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tfoot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Rodapé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tabular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totais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somatórios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médias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consolidadas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th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&gt; vs &lt;td&gt;: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th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semântica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); &lt;td&gt;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dado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comum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Acessibilidade Tabular: Atributo scope, colspan e rowspan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19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Em tabelas complexas, os atributos scope, colspan e rowspan garantem que tecnologias assistivas contextualizem cada célula perfeitamente.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651" y="1353965"/>
            <a:ext cx="5685229" cy="47908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61180" y="1536192"/>
            <a:ext cx="1808683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Acessibilidade A11y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669" y="1569580"/>
            <a:ext cx="322051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O </a:t>
            </a:r>
            <a:r>
              <a:rPr dirty="0" err="1"/>
              <a:t>Atributo</a:t>
            </a:r>
            <a:r>
              <a:rPr dirty="0"/>
              <a:t> scope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Detalhes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297517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Por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que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usar scope?: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Sem scope, um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sabe se o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th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vertical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horizontal.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scope="col":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Informa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aplica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daquela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abaixo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dele.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scope="row":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Informa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aplica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daquela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horizontal à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sua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scope="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colgroup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" / "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rowgroup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cabeçalhos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abrangem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grupos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inteiros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Impacto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Prático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seta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direcional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o NVDA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lê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: '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Média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: Ana Silva, Valor: 9.5'.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4329" y="1353965"/>
            <a:ext cx="5557423" cy="4790803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720072" y="1536192"/>
            <a:ext cx="188366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Matriz Bidimensional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438" y="1537681"/>
            <a:ext cx="3145536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Mesclagem</a:t>
            </a:r>
            <a:r>
              <a:rPr dirty="0"/>
              <a:t>: </a:t>
            </a:r>
            <a:r>
              <a:rPr dirty="0" err="1"/>
              <a:t>colspan</a:t>
            </a:r>
            <a:r>
              <a:rPr dirty="0"/>
              <a:t> e </a:t>
            </a:r>
            <a:r>
              <a:rPr dirty="0" err="1"/>
              <a:t>rowspan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437376" y="1975104"/>
            <a:ext cx="5148072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 com colspan e rowspan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04288"/>
            <a:ext cx="4892040" cy="1645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&lt;tr&gt;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&lt;!-- Ocupa 2 linhas verticalmente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&lt;th rowspan="2" scope="rowgroup"&gt;Turma A&lt;/th&gt;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&lt;td&gt;Matutino&lt;/td&gt;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  &lt;!-- Ocupa 2 colunas horizontalmente --&gt;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&lt;td colspan="2"&gt;Sala 104 (Laboratório)&lt;/td&gt;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&lt;/tr&gt;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096512"/>
            <a:ext cx="5148072" cy="17184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colspan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="N":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Expande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ocupar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colunas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adjacentes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à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rowspan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="N":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Expande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ocupar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linhas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adjacentes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abaixo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Cuidado com a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Matriz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Exige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calcular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exatamente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contagem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células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&lt;tr&gt;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deformar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Imagens Responsivas e Performance: &lt;img&gt; e &lt;picture&gt;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Imagens representam mais de 60% do peso da Web. O HTML5 oferece controle granular de resolução, formatos modernos e carregamento sob demanda.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186123" y="1536192"/>
            <a:ext cx="158374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Resolução e Lazy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445459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O </a:t>
            </a:r>
            <a:r>
              <a:rPr dirty="0" err="1"/>
              <a:t>Elemento</a:t>
            </a:r>
            <a:r>
              <a:rPr dirty="0"/>
              <a:t> &lt;</a:t>
            </a:r>
            <a:r>
              <a:rPr dirty="0" err="1"/>
              <a:t>img</a:t>
            </a:r>
            <a:r>
              <a:rPr dirty="0"/>
              <a:t>&gt; Moderno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&lt;img&gt; com srcset, sizes e 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892040" cy="1920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&lt;img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src="foto-800.jpg"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srcset="foto-400.jpg 400w, foto-800.jpg 800w"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sizes="(max-width: 600px) 100vw, 800px"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alt="Alunos desenvolvendo projetos web"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loading="lazy" decoding="async"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width="800" height="600"&gt;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370832"/>
            <a:ext cx="5148072" cy="1436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srcset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+ sizes: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Browser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calcula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densidade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pixels (Retina 2x/3x)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largura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baixar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apenas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menor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imagem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necessária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loading="lazy":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Adia o download de imagens fora da viewport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rolar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economiza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dados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acelera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First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Contentful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Paint).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945014" y="1536192"/>
            <a:ext cx="1658721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Formatos Modernos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3370478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O </a:t>
            </a:r>
            <a:r>
              <a:rPr dirty="0" err="1"/>
              <a:t>Elemento</a:t>
            </a:r>
            <a:r>
              <a:rPr dirty="0"/>
              <a:t> &lt;picture&gt; </a:t>
            </a:r>
            <a:r>
              <a:rPr dirty="0" err="1"/>
              <a:t>Direção</a:t>
            </a:r>
            <a:r>
              <a:rPr dirty="0"/>
              <a:t> de Arte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2286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&lt;picture&gt; com Fallback e AVIF/WebP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892040" cy="1920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&lt;picture&gt;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Formato ultra-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compacto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moderno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(AVIF)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&lt;source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srcset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hero.avif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 type="image/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avif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Formato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WebP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compatível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universal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&lt;source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srcset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hero.webp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 type="image/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webp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Fallback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clássico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JPG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legado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img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src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hero.jpg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 alt="Banner da aula"&gt;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&lt;/picture&gt;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370832"/>
            <a:ext cx="5148072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Formato AVIF / WebP: </a:t>
            </a:r>
            <a:r>
              <a:rPr sz="1500">
                <a:solidFill>
                  <a:srgbClr val="1E293B"/>
                </a:solidFill>
                <a:latin typeface="Segoe UI"/>
              </a:rPr>
              <a:t>Reduz em até 50% o tamanho do arquivo sem perda de qualidade visual perceptível.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&lt;figure&gt; e &lt;figcaption&gt;: </a:t>
            </a:r>
            <a:r>
              <a:rPr sz="1500">
                <a:solidFill>
                  <a:srgbClr val="1E293B"/>
                </a:solidFill>
                <a:latin typeface="Segoe UI"/>
              </a:rPr>
              <a:t>Semântica para imagens que possuem legendas explicativas associadas.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Áudio e Vídeo Nativos: &lt;video&gt;, &lt;audio&gt; e Acessibilidade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21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reprodução multimídia no HTML5 é 100% nativa, segura, programável via JavaScript e totalmente acessível através de legendas WebVTT.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7079" y="1371600"/>
            <a:ext cx="5610801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55464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&lt;video&gt;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11480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Vídeo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 com </a:t>
            </a:r>
            <a:r>
              <a:rPr dirty="0" err="1"/>
              <a:t>Legendas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5603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Exemplo Completo com &lt;track&gt;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892040" cy="21945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&lt;video controls poster="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thumb.jpg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 preload="metadata"&gt;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Formato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WebM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aberto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de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alta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compressão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&lt;source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src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aula.webm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 type="video/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webm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Formato MP4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compatibilidade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universal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  &lt;source </a:t>
            </a:r>
            <a:r>
              <a:rPr sz="1150" dirty="0" err="1">
                <a:solidFill>
                  <a:srgbClr val="38BDF8"/>
                </a:solidFill>
                <a:latin typeface="Consolas"/>
              </a:rPr>
              <a:t>src</a:t>
            </a:r>
            <a:r>
              <a:rPr sz="1150" dirty="0">
                <a:solidFill>
                  <a:srgbClr val="38BDF8"/>
                </a:solidFill>
                <a:latin typeface="Consolas"/>
              </a:rPr>
              <a:t>="aula.mp4" type="video/mp4"&gt;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94A3B8"/>
                </a:solidFill>
                <a:latin typeface="Consolas"/>
              </a:rPr>
              <a:t>  &lt;!-- </a:t>
            </a:r>
            <a:r>
              <a:rPr sz="1150" dirty="0" err="1">
                <a:solidFill>
                  <a:srgbClr val="94A3B8"/>
                </a:solidFill>
                <a:latin typeface="Consolas"/>
              </a:rPr>
              <a:t>Legendas</a:t>
            </a:r>
            <a:r>
              <a:rPr sz="1150" dirty="0">
                <a:solidFill>
                  <a:srgbClr val="94A3B8"/>
                </a:solidFill>
                <a:latin typeface="Consolas"/>
              </a:rPr>
              <a:t> e Closed Captions (WebVTT) --&gt;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F1F5F9"/>
                </a:solidFill>
                <a:latin typeface="Consolas"/>
              </a:rPr>
              <a:t>  &lt;track </a:t>
            </a:r>
            <a:r>
              <a:rPr sz="1150" dirty="0" err="1">
                <a:solidFill>
                  <a:srgbClr val="F1F5F9"/>
                </a:solidFill>
                <a:latin typeface="Consolas"/>
              </a:rPr>
              <a:t>src</a:t>
            </a:r>
            <a:r>
              <a:rPr sz="1150" dirty="0">
                <a:solidFill>
                  <a:srgbClr val="F1F5F9"/>
                </a:solidFill>
                <a:latin typeface="Consolas"/>
              </a:rPr>
              <a:t>="</a:t>
            </a:r>
            <a:r>
              <a:rPr sz="1150" dirty="0" err="1">
                <a:solidFill>
                  <a:srgbClr val="F1F5F9"/>
                </a:solidFill>
                <a:latin typeface="Consolas"/>
              </a:rPr>
              <a:t>legendas.vtt</a:t>
            </a:r>
            <a:r>
              <a:rPr sz="1150" dirty="0">
                <a:solidFill>
                  <a:srgbClr val="F1F5F9"/>
                </a:solidFill>
                <a:latin typeface="Consolas"/>
              </a:rPr>
              <a:t>" kind="subtitles"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F1F5F9"/>
                </a:solidFill>
                <a:latin typeface="Consolas"/>
              </a:rPr>
              <a:t>         </a:t>
            </a:r>
            <a:r>
              <a:rPr sz="1150" dirty="0" err="1">
                <a:solidFill>
                  <a:srgbClr val="F1F5F9"/>
                </a:solidFill>
                <a:latin typeface="Consolas"/>
              </a:rPr>
              <a:t>srclang</a:t>
            </a:r>
            <a:r>
              <a:rPr sz="1150" dirty="0">
                <a:solidFill>
                  <a:srgbClr val="F1F5F9"/>
                </a:solidFill>
                <a:latin typeface="Consolas"/>
              </a:rPr>
              <a:t>="pt-BR" label="</a:t>
            </a:r>
            <a:r>
              <a:rPr sz="1150" dirty="0" err="1">
                <a:solidFill>
                  <a:srgbClr val="F1F5F9"/>
                </a:solidFill>
                <a:latin typeface="Consolas"/>
              </a:rPr>
              <a:t>Português</a:t>
            </a:r>
            <a:r>
              <a:rPr sz="1150" dirty="0">
                <a:solidFill>
                  <a:srgbClr val="F1F5F9"/>
                </a:solidFill>
                <a:latin typeface="Consolas"/>
              </a:rPr>
              <a:t>" default&gt;</a:t>
            </a:r>
          </a:p>
          <a:p>
            <a:pPr>
              <a:spcAft>
                <a:spcPts val="150"/>
              </a:spcAft>
            </a:pPr>
            <a:r>
              <a:rPr sz="1150" dirty="0">
                <a:solidFill>
                  <a:srgbClr val="38BDF8"/>
                </a:solidFill>
                <a:latin typeface="Consolas"/>
              </a:rPr>
              <a:t>&lt;/video&gt;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645152"/>
            <a:ext cx="5148072" cy="7437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poster="URL":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Thumbnail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exibido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antes do play.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preload="metadata":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Baixa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apenas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duração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dimensões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carregar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megabytes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vídeo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305" y="1371600"/>
            <a:ext cx="5517447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319918" y="1536192"/>
            <a:ext cx="1283817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Propriedades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374538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Multimídia</a:t>
            </a:r>
            <a:r>
              <a:rPr dirty="0"/>
              <a:t> &amp; </a:t>
            </a:r>
            <a:r>
              <a:rPr dirty="0" err="1"/>
              <a:t>Áudio</a:t>
            </a:r>
            <a:r>
              <a:rPr dirty="0"/>
              <a:t> Nativo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17830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Elemento &lt;audio&gt;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892040" cy="141731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&lt;audio controls preload="none"&gt;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&lt;source src="podcast.mp3" type="audio/mpeg"&gt;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  &lt;source src="podcast.ogg" type="audio/ogg"&gt;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38BDF8"/>
                </a:solidFill>
                <a:latin typeface="Consolas"/>
              </a:rPr>
              <a:t>&lt;/audio&gt;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867912"/>
            <a:ext cx="5148072" cy="20005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controls: </a:t>
            </a:r>
            <a:r>
              <a:rPr sz="1500">
                <a:solidFill>
                  <a:srgbClr val="1E293B"/>
                </a:solidFill>
                <a:latin typeface="Segoe UI"/>
              </a:rPr>
              <a:t>Exibe a barra nativa do sistema (play, pause, volume, progresso).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autoplay: </a:t>
            </a:r>
            <a:r>
              <a:rPr sz="1500">
                <a:solidFill>
                  <a:srgbClr val="1E293B"/>
                </a:solidFill>
                <a:latin typeface="Segoe UI"/>
              </a:rPr>
              <a:t>Execução automática — requer muted obrigatório na maioria dos browsers devido a políticas de privacidade.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loop: </a:t>
            </a:r>
            <a:r>
              <a:rPr sz="1500">
                <a:solidFill>
                  <a:srgbClr val="1E293B"/>
                </a:solidFill>
                <a:latin typeface="Segoe UI"/>
              </a:rPr>
              <a:t>Reinicia a reprodução continuamente.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playsinline: </a:t>
            </a:r>
            <a:r>
              <a:rPr sz="1500">
                <a:solidFill>
                  <a:srgbClr val="1E293B"/>
                </a:solidFill>
                <a:latin typeface="Segoe UI"/>
              </a:rPr>
              <a:t>Executa dentro da página em mobile sem abrir tela cheia.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Formulários Modernos: Arquitetura e Acessibilidade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22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Formulários são o ponto de contato transacional da aplicação. A estrutura semântica garante validação nativa e acessibilidade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897880" cy="4700016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444752"/>
            <a:ext cx="5897880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Estrutura Semântica de Formulário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5344" y="1773936"/>
            <a:ext cx="5299528" cy="426270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&lt;form action="/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api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/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cadastro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" method="POST"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novalidate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fieldset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&lt;legend&gt;Dados de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Identificação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&lt;/legend&gt;</a:t>
            </a:r>
          </a:p>
          <a:p>
            <a:pPr>
              <a:spcAft>
                <a:spcPts val="150"/>
              </a:spcAft>
            </a:pPr>
            <a:endParaRPr sz="1300" dirty="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&lt;div class="form-group"&gt;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  &lt;label for="txt-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nome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"&gt;Nome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Completo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:&lt;/label&gt;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      &lt;input type="text" id="txt-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nome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" name="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nome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"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             required 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minlength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="3" autocomplete="name"&gt;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&lt;/div&gt;</a:t>
            </a:r>
          </a:p>
          <a:p>
            <a:pPr>
              <a:spcAft>
                <a:spcPts val="150"/>
              </a:spcAft>
            </a:pPr>
            <a:endParaRPr sz="1300" dirty="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&lt;div class="form-group"&gt;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  &lt;label for="txt-email"&gt;E-mail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Institucional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:&lt;/label&gt;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      &lt;input type="email" id="txt-email" name="email"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             required autocomplete="email"&gt;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  &lt;/div&gt;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&lt;/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fieldset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&gt;</a:t>
            </a:r>
          </a:p>
          <a:p>
            <a:pPr>
              <a:spcAft>
                <a:spcPts val="150"/>
              </a:spcAft>
            </a:pPr>
            <a:endParaRPr sz="1300" dirty="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&lt;button type="submit"&gt;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Realizar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Matrícula&lt;/button&gt;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&lt;/form&gt;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3330" y="1371600"/>
            <a:ext cx="5288422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94976" y="1536192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Regras Cruciais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4264" y="1527048"/>
            <a:ext cx="327355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Análise</a:t>
            </a:r>
            <a:r>
              <a:rPr dirty="0"/>
              <a:t> de </a:t>
            </a:r>
            <a:r>
              <a:rPr dirty="0" err="1"/>
              <a:t>Engenharia</a:t>
            </a:r>
            <a:r>
              <a:rPr dirty="0"/>
              <a:t> de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975104"/>
            <a:ext cx="4919472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&lt;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fieldset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&gt; e &lt;legend&gt;: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Agrupam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campos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logicamente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relacionados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(ex: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Endereço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Cobrança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).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anuncia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legenda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entrar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qualquer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campo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grupo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A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Associação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&lt;label for="id"&gt;: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CRÍTICO: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for do label DEVE ser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idêntico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id do input.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clicar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label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identifica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campo para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leitor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name vs id: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name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enviado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payload HTTP para o backend; id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é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JavaScript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associação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o label.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autocomplete: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Ajuda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preencher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dados salvos com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segurança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(name, email, current-password).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Novos Tipos de &lt;input&gt; no HTML5: UIs Nativas de Dispositivos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23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HTML5 introduziu tipos especializados de input que acionam teclados virtuais adequados e seletores nativos em smartphones.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44752"/>
            <a:ext cx="11368735" cy="4791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872776" y="1536192"/>
            <a:ext cx="1733702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Referência Técnica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913211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Catálogo</a:t>
            </a:r>
            <a:r>
              <a:rPr dirty="0"/>
              <a:t> de </a:t>
            </a:r>
            <a:r>
              <a:rPr dirty="0" err="1"/>
              <a:t>Tipos</a:t>
            </a:r>
            <a:r>
              <a:rPr dirty="0"/>
              <a:t> </a:t>
            </a:r>
            <a:r>
              <a:rPr dirty="0" err="1"/>
              <a:t>Especializados</a:t>
            </a:r>
            <a:r>
              <a:rPr dirty="0"/>
              <a:t> de &lt;input&gt;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393963"/>
              </p:ext>
            </p:extLst>
          </p:nvPr>
        </p:nvGraphicFramePr>
        <p:xfrm>
          <a:off x="594360" y="1932572"/>
          <a:ext cx="11000232" cy="4124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62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720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Type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Comportamento</a:t>
                      </a:r>
                      <a:r>
                        <a:rPr dirty="0"/>
                        <a:t> Mobile / UI Nativa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Validação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Embutida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Exemplo</a:t>
                      </a:r>
                      <a:r>
                        <a:rPr dirty="0"/>
                        <a:t> de </a:t>
                      </a:r>
                      <a:r>
                        <a:rPr dirty="0" err="1"/>
                        <a:t>Sintaxe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email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Teclado</a:t>
                      </a:r>
                      <a:r>
                        <a:rPr sz="1400" dirty="0"/>
                        <a:t> com '@' e '.com' </a:t>
                      </a:r>
                      <a:r>
                        <a:rPr sz="1400" dirty="0" err="1"/>
                        <a:t>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evidência</a:t>
                      </a:r>
                      <a:r>
                        <a:rPr sz="1400" dirty="0"/>
                        <a:t> no smartphone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Verifica se contém '@' e domínio válido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&lt;input type="email" name="user_email"&gt;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tel</a:t>
                      </a:r>
                      <a:endParaRPr sz="14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Teclado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numérico</a:t>
                      </a:r>
                      <a:r>
                        <a:rPr sz="1400" dirty="0"/>
                        <a:t> de </a:t>
                      </a:r>
                      <a:r>
                        <a:rPr sz="1400" dirty="0" err="1"/>
                        <a:t>discagem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telefônica</a:t>
                      </a:r>
                      <a:r>
                        <a:rPr sz="1400" dirty="0"/>
                        <a:t> no mobile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Não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valida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formato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sozinho</a:t>
                      </a:r>
                      <a:r>
                        <a:rPr sz="1400" dirty="0"/>
                        <a:t> (use com pattern)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&lt;input type="tel" name="telefone"&gt;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url</a:t>
                      </a:r>
                      <a:endParaRPr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Teclado com '/', '.' e extensões de domínio no mobile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Valida </a:t>
                      </a:r>
                      <a:r>
                        <a:rPr sz="1400" dirty="0" err="1"/>
                        <a:t>protocolo</a:t>
                      </a:r>
                      <a:r>
                        <a:rPr sz="1400" dirty="0"/>
                        <a:t> (http:// </a:t>
                      </a:r>
                      <a:r>
                        <a:rPr sz="1400" dirty="0" err="1"/>
                        <a:t>ou</a:t>
                      </a:r>
                      <a:r>
                        <a:rPr sz="1400" dirty="0"/>
                        <a:t> https://)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&lt;input type="url" name="website"&gt;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number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Teclado numérico; aceita setas de incremento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Valida </a:t>
                      </a:r>
                      <a:r>
                        <a:rPr sz="1400" dirty="0" err="1"/>
                        <a:t>valores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numéricos</a:t>
                      </a:r>
                      <a:r>
                        <a:rPr sz="1400" dirty="0"/>
                        <a:t> e </a:t>
                      </a:r>
                      <a:r>
                        <a:rPr sz="1400" dirty="0" err="1"/>
                        <a:t>limites</a:t>
                      </a:r>
                      <a:r>
                        <a:rPr sz="1400" dirty="0"/>
                        <a:t> min/max/step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&lt;input type="number" min="1" max="100" step="1"&gt;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Datepicker / calendário nativo do sistema operacional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Garante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formato</a:t>
                      </a:r>
                      <a:r>
                        <a:rPr sz="1400" dirty="0"/>
                        <a:t> ISO 8601 (AAAA-MM-DD)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&lt;input type="date" min="2026-01-01"&gt;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20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color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Color picker nativo da plataforma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 err="1"/>
                        <a:t>Retorna</a:t>
                      </a:r>
                      <a:r>
                        <a:rPr sz="1400" dirty="0"/>
                        <a:t> </a:t>
                      </a:r>
                      <a:r>
                        <a:rPr sz="1400" dirty="0" err="1"/>
                        <a:t>código</a:t>
                      </a:r>
                      <a:r>
                        <a:rPr sz="1400" dirty="0"/>
                        <a:t> hexadecimal (#RRGGBB)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&lt;input type="color" name="</a:t>
                      </a:r>
                      <a:r>
                        <a:rPr sz="1400" dirty="0" err="1"/>
                        <a:t>cor_tema</a:t>
                      </a:r>
                      <a:r>
                        <a:rPr sz="1400" dirty="0"/>
                        <a:t>"&gt;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211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range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Controle deslizante (slider) horizontal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/>
                        <a:t>Valores contínuos definidos por min, max e step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400" dirty="0"/>
                        <a:t>&lt;input type="range" min="0" max="100" value="50"&gt;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Validação Declarativa Nativa: Constraint Validation API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24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Validação client-side nativa sem JavaScript — mas lembre-se: NUNCA substitui a validação rigorosa no servidor backend!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44752"/>
            <a:ext cx="5532120" cy="479145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10988" y="1536192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Atributos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Atributos</a:t>
            </a:r>
            <a:r>
              <a:rPr dirty="0"/>
              <a:t> </a:t>
            </a:r>
            <a:r>
              <a:rPr dirty="0" err="1"/>
              <a:t>Declarativos</a:t>
            </a:r>
            <a:r>
              <a:rPr dirty="0"/>
              <a:t> de </a:t>
            </a:r>
            <a:r>
              <a:rPr dirty="0" err="1"/>
              <a:t>Validação</a:t>
            </a:r>
            <a:endParaRPr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2069275"/>
              </p:ext>
            </p:extLst>
          </p:nvPr>
        </p:nvGraphicFramePr>
        <p:xfrm>
          <a:off x="594360" y="1975104"/>
          <a:ext cx="5166360" cy="4000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Atributo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Finalidade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Exemplo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Campo de </a:t>
                      </a:r>
                      <a:r>
                        <a:rPr sz="1300" dirty="0" err="1"/>
                        <a:t>preenchimento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obrigatório</a:t>
                      </a:r>
                      <a:endParaRPr sz="1300"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&lt;input required&gt;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pattern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Expressão</a:t>
                      </a:r>
                      <a:r>
                        <a:rPr sz="1300" dirty="0"/>
                        <a:t> Regular (Regex) de </a:t>
                      </a:r>
                      <a:r>
                        <a:rPr sz="1300" dirty="0" err="1"/>
                        <a:t>validação</a:t>
                      </a:r>
                      <a:endParaRPr sz="130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pattern="[0-9]{5}-[0-9]{3}" (CEP)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min / max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Limites mínimos e máximos para data/número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min="18" max="120"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minlength</a:t>
                      </a:r>
                      <a:r>
                        <a:rPr sz="1300" dirty="0"/>
                        <a:t> / </a:t>
                      </a:r>
                      <a:r>
                        <a:rPr sz="1300" dirty="0" err="1"/>
                        <a:t>maxlength</a:t>
                      </a:r>
                      <a:endParaRPr sz="13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Quantidade mínima e máxima de caracteres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minlength</a:t>
                      </a:r>
                      <a:r>
                        <a:rPr sz="1300" dirty="0"/>
                        <a:t>="8" </a:t>
                      </a:r>
                      <a:r>
                        <a:rPr sz="1300" dirty="0" err="1"/>
                        <a:t>maxlength</a:t>
                      </a:r>
                      <a:r>
                        <a:rPr sz="1300" dirty="0"/>
                        <a:t>="32"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step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Intervalo granular aceito entre números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step="0.01" (</a:t>
                      </a:r>
                      <a:r>
                        <a:rPr sz="1300" dirty="0" err="1"/>
                        <a:t>valores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monetários</a:t>
                      </a:r>
                      <a:r>
                        <a:rPr sz="130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69956" y="1536192"/>
            <a:ext cx="1433779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Interatividade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59542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Pseudo-classes CSS &amp; JavaScript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7376" y="1975104"/>
            <a:ext cx="5148072" cy="201168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Estilização de Estados com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304288"/>
            <a:ext cx="4892040" cy="1645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/* Estiliza campo válido ou inválido automaticamente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input:invalid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border: 2px solid #e74c3c; /* Borda vermelha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input:valid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border: 2px solid #2ecc71; /* Borda verde */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4096512"/>
            <a:ext cx="5148072" cy="14362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Constraint Validation API: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input.checkValidity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(),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input.validity.valid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input.setCustomValidity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('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Mensagem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customizada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').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Segurança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client-side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melhora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UX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;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server-side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garante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segurança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banco de dados.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Controles Especiais: &lt;datalist&gt;, &lt;output&gt;, &lt;progress&gt; e &lt;meter&gt;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25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HTML5 adicionou elementos para autocomplete nativo, feedback dinâmico e indicadores visuais sem bibliotecas pesadas de terceiros.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10988" y="1536192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Sugestões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Autocomplete com &lt;</a:t>
            </a:r>
            <a:r>
              <a:rPr dirty="0" err="1"/>
              <a:t>datalist</a:t>
            </a:r>
            <a:r>
              <a:rPr dirty="0"/>
              <a:t>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Input com Datalist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659930" cy="20056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&lt;label for="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cursos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"&gt;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Escolha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seu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curso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:&lt;/label&gt;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&lt;input list="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lista-cursos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" id="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cursos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" name="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curso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"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F1F5F9"/>
                </a:solidFill>
                <a:latin typeface="Consolas"/>
              </a:rPr>
              <a:t>       placeholder="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Digite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 para </a:t>
            </a:r>
            <a:r>
              <a:rPr sz="1300" dirty="0" err="1">
                <a:solidFill>
                  <a:srgbClr val="F1F5F9"/>
                </a:solidFill>
                <a:latin typeface="Consolas"/>
              </a:rPr>
              <a:t>buscar</a:t>
            </a:r>
            <a:r>
              <a:rPr sz="1300" dirty="0">
                <a:solidFill>
                  <a:srgbClr val="F1F5F9"/>
                </a:solidFill>
                <a:latin typeface="Consolas"/>
              </a:rPr>
              <a:t>..."&gt;</a:t>
            </a:r>
          </a:p>
          <a:p>
            <a:pPr>
              <a:spcAft>
                <a:spcPts val="150"/>
              </a:spcAft>
            </a:pPr>
            <a:endParaRPr sz="1300" dirty="0">
              <a:solidFill>
                <a:srgbClr val="F1F5F9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&lt;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datalist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id="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lista-cursos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&lt;option value="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Análise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e 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Desenv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. de Sistemas"&gt;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&lt;option value="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Gestão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Empresarial"&gt;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  &lt;option value="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Mecatrônica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 Industrial"&gt;</a:t>
            </a:r>
          </a:p>
          <a:p>
            <a:pPr>
              <a:spcAft>
                <a:spcPts val="150"/>
              </a:spcAft>
            </a:pPr>
            <a:r>
              <a:rPr sz="1300" dirty="0">
                <a:solidFill>
                  <a:srgbClr val="38BDF8"/>
                </a:solidFill>
                <a:latin typeface="Consolas"/>
              </a:rPr>
              <a:t>&lt;/</a:t>
            </a:r>
            <a:r>
              <a:rPr sz="1300" dirty="0" err="1">
                <a:solidFill>
                  <a:srgbClr val="38BDF8"/>
                </a:solidFill>
                <a:latin typeface="Consolas"/>
              </a:rPr>
              <a:t>datalist</a:t>
            </a:r>
            <a:r>
              <a:rPr sz="1300" dirty="0">
                <a:solidFill>
                  <a:srgbClr val="38BDF8"/>
                </a:solidFill>
                <a:latin typeface="Consolas"/>
              </a:rPr>
              <a:t>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507992"/>
            <a:ext cx="5148072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Vantagem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digite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qualquer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valor OU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escolha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sugestões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lista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nativa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precisar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plugins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pesados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autocomplete.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619841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Métricas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4045305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</a:t>
            </a:r>
            <a:r>
              <a:rPr dirty="0" err="1"/>
              <a:t>Indicadores</a:t>
            </a:r>
            <a:r>
              <a:rPr dirty="0"/>
              <a:t>: &lt;progress&gt; e &lt;meter&gt;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24231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Progresso e Medição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659930" cy="177997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300">
                <a:solidFill>
                  <a:srgbClr val="94A3B8"/>
                </a:solidFill>
                <a:latin typeface="Consolas"/>
              </a:rPr>
              <a:t>&lt;!-- Barra de Progresso de Tarefa (0% a 100%) --&gt;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38BDF8"/>
                </a:solidFill>
                <a:latin typeface="Consolas"/>
              </a:rPr>
              <a:t>&lt;label&gt;Upload do arquivo:&lt;/label&gt;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38BDF8"/>
                </a:solidFill>
                <a:latin typeface="Consolas"/>
              </a:rPr>
              <a:t>&lt;progress value="75" max="100"&gt;75%&lt;/progress&gt;</a:t>
            </a:r>
          </a:p>
          <a:p>
            <a:pPr>
              <a:spcAft>
                <a:spcPts val="150"/>
              </a:spcAft>
            </a:pPr>
            <a:endParaRPr sz="130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94A3B8"/>
                </a:solidFill>
                <a:latin typeface="Consolas"/>
              </a:rPr>
              <a:t>&lt;!-- Medidor Escalar de Capacidade (com faixas) --&gt;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38BDF8"/>
                </a:solidFill>
                <a:latin typeface="Consolas"/>
              </a:rPr>
              <a:t>&lt;label&gt;Uso de Disco:&lt;/label&gt;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F1F5F9"/>
                </a:solidFill>
                <a:latin typeface="Consolas"/>
              </a:rPr>
              <a:t>&lt;meter value="85" min="0" max="100"</a:t>
            </a:r>
          </a:p>
          <a:p>
            <a:pPr>
              <a:spcAft>
                <a:spcPts val="150"/>
              </a:spcAft>
            </a:pPr>
            <a:r>
              <a:rPr sz="1300">
                <a:solidFill>
                  <a:srgbClr val="38BDF8"/>
                </a:solidFill>
                <a:latin typeface="Consolas"/>
              </a:rPr>
              <a:t>       low="30" high="80" optimum="20"&gt;85%&lt;/meter&gt;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507992"/>
            <a:ext cx="5148072" cy="9746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&lt;progress&gt;: </a:t>
            </a:r>
            <a:r>
              <a:rPr sz="1500">
                <a:solidFill>
                  <a:srgbClr val="1E293B"/>
                </a:solidFill>
                <a:latin typeface="Segoe UI"/>
              </a:rPr>
              <a:t>Para tarefas em andamento que têm início e fim.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&lt;meter&gt;: </a:t>
            </a:r>
            <a:r>
              <a:rPr sz="1500">
                <a:solidFill>
                  <a:srgbClr val="1E293B"/>
                </a:solidFill>
                <a:latin typeface="Segoe UI"/>
              </a:rPr>
              <a:t>Para medição escalar dentro de faixa fixa (disco, temperatura, pontuação).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HTML5 como Plataforma: O Ecossistema de APIs Nativas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26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HTML5 unificou a linguagem de marcação com um rico conjunto de APIs JavaScript nativas embutidas diretamente no navegador.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62656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2221992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Armazenamento</a:t>
            </a:r>
            <a:r>
              <a:rPr dirty="0"/>
              <a:t> &amp;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230288"/>
            <a:ext cx="3255264" cy="27443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Web Storage API: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localStorage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persistente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sessionStorage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aba).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IndexedDB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API: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Banco de dados NoSQL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transacional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alta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capacidade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client-side.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Cache API &amp; Service Workers: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funcionamento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100% offline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Progressive Web Apps (PWAs).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821424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9232" y="1569579"/>
            <a:ext cx="2221992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Gráficos</a:t>
            </a:r>
            <a:r>
              <a:rPr dirty="0"/>
              <a:t> &amp; </a:t>
            </a:r>
            <a:r>
              <a:rPr dirty="0" err="1"/>
              <a:t>Multimídia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62272" y="2230288"/>
            <a:ext cx="3255264" cy="251350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Canvas 2D API: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Contexto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desenho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bitmap via scripts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jogos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gráficos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dinâmicos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WebGL API: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Renderização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gráfica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3D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acelerada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hardware (GPU).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Web Audio API: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Processamento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síntese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áudio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modular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tempo real.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44752"/>
            <a:ext cx="3547872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619841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1527048"/>
            <a:ext cx="2152497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Hardware &amp; </a:t>
            </a:r>
            <a:r>
              <a:rPr dirty="0" err="1"/>
              <a:t>Conectividade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330183" y="2230288"/>
            <a:ext cx="3255264" cy="274434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Geolocation API: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Acesso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seguro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à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localização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GPS / Wi-Fi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requer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HTTPS).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Web Workers API: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Execução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multithread de scripts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background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travar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UI.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WebSockets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&amp; WebRTC: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Comunicação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full-duplex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bidirecional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streaming peer-to-peer.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Web Storage API: localStorage, sessionStorage e Cookies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27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Armazenar dados no navegador com facilidade e alta performance — eliminando a sobrecarga de envio contínuo via HTTP Cookies.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44751"/>
            <a:ext cx="11368735" cy="2314215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947757" y="1536192"/>
            <a:ext cx="1658721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Matriz de Decisão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9207093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Comparativo</a:t>
            </a:r>
            <a:r>
              <a:rPr dirty="0"/>
              <a:t> </a:t>
            </a:r>
            <a:r>
              <a:rPr dirty="0" err="1"/>
              <a:t>Arquitetural</a:t>
            </a:r>
            <a:r>
              <a:rPr dirty="0"/>
              <a:t> de </a:t>
            </a:r>
            <a:r>
              <a:rPr dirty="0" err="1"/>
              <a:t>Armazenamento</a:t>
            </a:r>
            <a:r>
              <a:rPr dirty="0"/>
              <a:t> Client-Side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872319"/>
              </p:ext>
            </p:extLst>
          </p:nvPr>
        </p:nvGraphicFramePr>
        <p:xfrm>
          <a:off x="594360" y="1885363"/>
          <a:ext cx="11000232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35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Mecanismo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Capacidade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Tempo de Vida (</a:t>
                      </a:r>
                      <a:r>
                        <a:rPr dirty="0" err="1"/>
                        <a:t>Persistência</a:t>
                      </a:r>
                      <a:r>
                        <a:rPr dirty="0"/>
                        <a:t>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Enviado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ao</a:t>
                      </a:r>
                      <a:r>
                        <a:rPr dirty="0"/>
                        <a:t> </a:t>
                      </a:r>
                      <a:r>
                        <a:rPr dirty="0" err="1"/>
                        <a:t>Servidor</a:t>
                      </a:r>
                      <a:r>
                        <a:rPr dirty="0"/>
                        <a:t>?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Acesso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/>
                        <a:t>Cookies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/>
                        <a:t>~4 KB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 err="1"/>
                        <a:t>Configurado</a:t>
                      </a:r>
                      <a:r>
                        <a:rPr sz="1250" dirty="0"/>
                        <a:t> via Expires/Max-Age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SIM (em toda requisição HTTP)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Client + Server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 err="1"/>
                        <a:t>sessionStorage</a:t>
                      </a: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~5 MB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/>
                        <a:t>Dura </a:t>
                      </a:r>
                      <a:r>
                        <a:rPr sz="1250" dirty="0" err="1"/>
                        <a:t>apenas</a:t>
                      </a:r>
                      <a:r>
                        <a:rPr sz="1250" dirty="0"/>
                        <a:t> </a:t>
                      </a:r>
                      <a:r>
                        <a:rPr sz="1250" dirty="0" err="1"/>
                        <a:t>enquanto</a:t>
                      </a:r>
                      <a:r>
                        <a:rPr sz="1250" dirty="0"/>
                        <a:t> a aba </a:t>
                      </a:r>
                      <a:r>
                        <a:rPr sz="1250" dirty="0" err="1"/>
                        <a:t>estiver</a:t>
                      </a:r>
                      <a:r>
                        <a:rPr sz="1250" dirty="0"/>
                        <a:t> </a:t>
                      </a:r>
                      <a:r>
                        <a:rPr sz="1250" dirty="0" err="1"/>
                        <a:t>aberta</a:t>
                      </a:r>
                      <a:endParaRPr sz="1250" dirty="0"/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/>
                        <a:t>NÃO (</a:t>
                      </a:r>
                      <a:r>
                        <a:rPr sz="1250" dirty="0" err="1"/>
                        <a:t>exclusivo</a:t>
                      </a:r>
                      <a:r>
                        <a:rPr sz="1250" dirty="0"/>
                        <a:t> do </a:t>
                      </a:r>
                      <a:r>
                        <a:rPr sz="1250" dirty="0" err="1"/>
                        <a:t>cliente</a:t>
                      </a:r>
                      <a:r>
                        <a:rPr sz="1250" dirty="0"/>
                        <a:t>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Apenas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 err="1"/>
                        <a:t>localStorage</a:t>
                      </a:r>
                      <a:endParaRPr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~5 a 10 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Persiste indefinidamente até limpeza explícita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/>
                        <a:t>NÃO (</a:t>
                      </a:r>
                      <a:r>
                        <a:rPr sz="1250" dirty="0" err="1"/>
                        <a:t>exclusivo</a:t>
                      </a:r>
                      <a:r>
                        <a:rPr sz="1250" dirty="0"/>
                        <a:t> do </a:t>
                      </a:r>
                      <a:r>
                        <a:rPr sz="1250" dirty="0" err="1"/>
                        <a:t>cliente</a:t>
                      </a:r>
                      <a:r>
                        <a:rPr sz="1250" dirty="0"/>
                        <a:t>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 err="1"/>
                        <a:t>Apenas</a:t>
                      </a:r>
                      <a:r>
                        <a:rPr sz="1250" dirty="0"/>
                        <a:t>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dirty="0" err="1"/>
                        <a:t>IndexedDB</a:t>
                      </a:r>
                      <a:endParaRPr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+500 MB (gigas)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Persistente (banco NoSQL assíncrono)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/>
                        <a:t>NÃO (exclusivo do cliente)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250" dirty="0" err="1"/>
                        <a:t>Apenas</a:t>
                      </a:r>
                      <a:r>
                        <a:rPr sz="1250" dirty="0"/>
                        <a:t> Client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457200" y="3849624"/>
            <a:ext cx="5440680" cy="22951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55464" y="3941063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Código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3931920"/>
            <a:ext cx="411480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API JavaScript: </a:t>
            </a:r>
            <a:r>
              <a:rPr dirty="0" err="1"/>
              <a:t>localStorage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603504" y="4343400"/>
            <a:ext cx="5148072" cy="1664208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3504" y="4343400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Uso do 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72584"/>
            <a:ext cx="4892040" cy="12984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// Gravar dado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localStorage.setItem('usuario', JSON.stringify({ nome: 'Ana' }));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// Ler dado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const user = JSON.parse(localStorage.getItem('usuario'));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// Remover dado ou limpar tudo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localStorage.removeItem('usuario');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localStorage.clear();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1072" y="3849624"/>
            <a:ext cx="5440680" cy="229514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544860" y="3941063"/>
            <a:ext cx="1058875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Segurança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931920"/>
            <a:ext cx="397032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Segurança</a:t>
            </a:r>
            <a:r>
              <a:rPr dirty="0"/>
              <a:t> e Boas </a:t>
            </a:r>
            <a:r>
              <a:rPr dirty="0" err="1"/>
              <a:t>Práticas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437376" y="4343400"/>
            <a:ext cx="5148072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▪ Same-Origin Policy: </a:t>
            </a:r>
            <a:r>
              <a:rPr sz="1300">
                <a:solidFill>
                  <a:srgbClr val="1E293B"/>
                </a:solidFill>
                <a:latin typeface="Segoe UI"/>
              </a:rPr>
              <a:t>Dados são isolados por Protocolo + Domínio + Porta.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▪ NÃO armazene senhas ou tokens JWT sensíveis: </a:t>
            </a:r>
            <a:r>
              <a:rPr sz="1300">
                <a:solidFill>
                  <a:srgbClr val="1E293B"/>
                </a:solidFill>
                <a:latin typeface="Segoe UI"/>
              </a:rPr>
              <a:t>localStorage é vulnerável a ataques XSS (Cross-Site Scripting). Para tokens sensíveis, use cookies HttpOnly.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Canvas 2D API: Gráficos e Desenho Programável na Web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28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O elemento &lt;canvas&gt; é uma tela de pintura matricial (bitmap) controlada linha a linha via JavaScript.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44752"/>
            <a:ext cx="5532120" cy="48788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36008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JavaScript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89534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Sintaxe</a:t>
            </a:r>
            <a:r>
              <a:rPr dirty="0"/>
              <a:t> e </a:t>
            </a:r>
            <a:r>
              <a:rPr dirty="0" err="1"/>
              <a:t>Exemplo</a:t>
            </a:r>
            <a:r>
              <a:rPr dirty="0"/>
              <a:t> de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975103"/>
            <a:ext cx="5312664" cy="4301267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86877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rPr dirty="0"/>
              <a:t>📄 </a:t>
            </a:r>
            <a:r>
              <a:rPr dirty="0" err="1"/>
              <a:t>Desenhando</a:t>
            </a:r>
            <a:r>
              <a:rPr dirty="0"/>
              <a:t> com a Context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217" y="2208591"/>
            <a:ext cx="4892040" cy="38728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00" dirty="0">
                <a:solidFill>
                  <a:srgbClr val="94A3B8"/>
                </a:solidFill>
                <a:latin typeface="Consolas"/>
              </a:rPr>
              <a:t>&lt;!-- No HTML: Canvas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matricial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--&gt;</a:t>
            </a: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38BDF8"/>
                </a:solidFill>
                <a:latin typeface="Consolas"/>
              </a:rPr>
              <a:t>&lt;canvas id="</a:t>
            </a:r>
            <a:r>
              <a:rPr sz="1100" dirty="0" err="1">
                <a:solidFill>
                  <a:srgbClr val="38BDF8"/>
                </a:solidFill>
                <a:latin typeface="Consolas"/>
              </a:rPr>
              <a:t>meuCanvas</a:t>
            </a:r>
            <a:r>
              <a:rPr sz="1100" dirty="0">
                <a:solidFill>
                  <a:srgbClr val="38BDF8"/>
                </a:solidFill>
                <a:latin typeface="Consolas"/>
              </a:rPr>
              <a:t>" width="400" height="200"&gt;&lt;/canvas&gt;</a:t>
            </a:r>
          </a:p>
          <a:p>
            <a:pPr>
              <a:spcAft>
                <a:spcPts val="150"/>
              </a:spcAft>
            </a:pPr>
            <a:endParaRPr sz="1100" dirty="0">
              <a:solidFill>
                <a:srgbClr val="38BDF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94A3B8"/>
                </a:solidFill>
                <a:latin typeface="Consolas"/>
              </a:rPr>
              <a:t>&lt;!-- No JavaScript: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Obter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contexto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2D --&gt;</a:t>
            </a: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FDE047"/>
                </a:solidFill>
                <a:latin typeface="Consolas"/>
              </a:rPr>
              <a:t>const canvas = </a:t>
            </a:r>
            <a:r>
              <a:rPr sz="1100" dirty="0" err="1">
                <a:solidFill>
                  <a:srgbClr val="FDE047"/>
                </a:solidFill>
                <a:latin typeface="Consolas"/>
              </a:rPr>
              <a:t>document.getElementById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('</a:t>
            </a:r>
            <a:r>
              <a:rPr sz="1100" dirty="0" err="1">
                <a:solidFill>
                  <a:srgbClr val="FDE047"/>
                </a:solidFill>
                <a:latin typeface="Consolas"/>
              </a:rPr>
              <a:t>meuCanvas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');</a:t>
            </a: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FDE047"/>
                </a:solidFill>
                <a:latin typeface="Consolas"/>
              </a:rPr>
              <a:t>const </a:t>
            </a:r>
            <a:r>
              <a:rPr sz="1100" dirty="0" err="1">
                <a:solidFill>
                  <a:srgbClr val="FDE047"/>
                </a:solidFill>
                <a:latin typeface="Consolas"/>
              </a:rPr>
              <a:t>ctx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= </a:t>
            </a:r>
            <a:r>
              <a:rPr sz="1100" dirty="0" err="1">
                <a:solidFill>
                  <a:srgbClr val="FDE047"/>
                </a:solidFill>
                <a:latin typeface="Consolas"/>
              </a:rPr>
              <a:t>canvas.getContext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('2d');</a:t>
            </a: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94A3B8"/>
                </a:solidFill>
                <a:latin typeface="Consolas"/>
              </a:rPr>
              <a:t>// 1.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Retângulo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preenchido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vermelho</a:t>
            </a:r>
            <a:endParaRPr sz="1100" dirty="0">
              <a:solidFill>
                <a:srgbClr val="94A3B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ctx.fillStyle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= '#e74c3c';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ctx.fillRect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(20, 20, 150, 100);</a:t>
            </a:r>
          </a:p>
          <a:p>
            <a:pPr>
              <a:spcAft>
                <a:spcPts val="150"/>
              </a:spcAft>
            </a:pPr>
            <a:endParaRPr sz="1100" dirty="0">
              <a:solidFill>
                <a:srgbClr val="FDE047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94A3B8"/>
                </a:solidFill>
                <a:latin typeface="Consolas"/>
              </a:rPr>
              <a:t>// 2.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Traço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de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linha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azul</a:t>
            </a:r>
            <a:endParaRPr sz="1100" dirty="0">
              <a:solidFill>
                <a:srgbClr val="94A3B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ctx.strokeStyle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= '#2980b9';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ctx.lineWidth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= 4;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ctx.strokeRect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(20, 20, 150, 100);</a:t>
            </a:r>
          </a:p>
          <a:p>
            <a:pPr>
              <a:spcAft>
                <a:spcPts val="150"/>
              </a:spcAft>
            </a:pPr>
            <a:endParaRPr sz="1100" dirty="0">
              <a:solidFill>
                <a:srgbClr val="FDE047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>
                <a:solidFill>
                  <a:srgbClr val="94A3B8"/>
                </a:solidFill>
                <a:latin typeface="Consolas"/>
              </a:rPr>
              <a:t>// 3.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Círculo</a:t>
            </a:r>
            <a:r>
              <a:rPr sz="1100" dirty="0">
                <a:solidFill>
                  <a:srgbClr val="94A3B8"/>
                </a:solidFill>
                <a:latin typeface="Consolas"/>
              </a:rPr>
              <a:t> / Arco </a:t>
            </a:r>
            <a:r>
              <a:rPr sz="1100" dirty="0" err="1">
                <a:solidFill>
                  <a:srgbClr val="94A3B8"/>
                </a:solidFill>
                <a:latin typeface="Consolas"/>
              </a:rPr>
              <a:t>verde</a:t>
            </a:r>
            <a:endParaRPr sz="1100" dirty="0">
              <a:solidFill>
                <a:srgbClr val="94A3B8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ctx.beginPath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();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ctx.arc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(260, 70, 40, 0, </a:t>
            </a:r>
            <a:r>
              <a:rPr sz="1100" dirty="0" err="1">
                <a:solidFill>
                  <a:srgbClr val="FDE047"/>
                </a:solidFill>
                <a:latin typeface="Consolas"/>
              </a:rPr>
              <a:t>Math.PI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* 2);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ctx.fillStyle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 = '#27ae60';</a:t>
            </a:r>
          </a:p>
          <a:p>
            <a:pPr>
              <a:spcAft>
                <a:spcPts val="150"/>
              </a:spcAft>
            </a:pPr>
            <a:r>
              <a:rPr sz="1100" dirty="0" err="1">
                <a:solidFill>
                  <a:srgbClr val="FDE047"/>
                </a:solidFill>
                <a:latin typeface="Consolas"/>
              </a:rPr>
              <a:t>ctx.fill</a:t>
            </a:r>
            <a:r>
              <a:rPr sz="1100" dirty="0">
                <a:solidFill>
                  <a:srgbClr val="FDE047"/>
                </a:solidFill>
                <a:latin typeface="Consolas"/>
              </a:rPr>
              <a:t>();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394899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Comparativo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527048"/>
            <a:ext cx="3820363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Canvas vs SVG: Quando Usar Cada Um?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1918640"/>
              </p:ext>
            </p:extLst>
          </p:nvPr>
        </p:nvGraphicFramePr>
        <p:xfrm>
          <a:off x="6437376" y="1975104"/>
          <a:ext cx="5148072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5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823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 err="1"/>
                        <a:t>Critério</a:t>
                      </a:r>
                      <a:endParaRPr dirty="0"/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Canvas (&lt;canvas&gt;)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rPr dirty="0"/>
                        <a:t>SVG (&lt;</a:t>
                      </a:r>
                      <a:r>
                        <a:rPr dirty="0" err="1"/>
                        <a:t>svg</a:t>
                      </a:r>
                      <a:r>
                        <a:rPr dirty="0"/>
                        <a:t>&gt;)</a:t>
                      </a:r>
                    </a:p>
                  </a:txBody>
                  <a:tcPr anchor="ctr">
                    <a:solidFill>
                      <a:srgbClr val="E74C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Natureza</a:t>
                      </a:r>
                      <a:endParaRPr sz="13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Bitmap / Raster (pixels)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Vetorial (matemático)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Resolução</a:t>
                      </a:r>
                      <a:endParaRPr sz="1300" dirty="0"/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Pode </a:t>
                      </a:r>
                      <a:r>
                        <a:rPr sz="1300" dirty="0" err="1"/>
                        <a:t>pixelar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ao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dar</a:t>
                      </a:r>
                      <a:r>
                        <a:rPr sz="1300" dirty="0"/>
                        <a:t> zoom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Escala infinita sem perda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DOM Nodes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Apenas</a:t>
                      </a:r>
                      <a:r>
                        <a:rPr sz="1300" dirty="0"/>
                        <a:t> 1 </a:t>
                      </a:r>
                      <a:r>
                        <a:rPr sz="1300" dirty="0" err="1"/>
                        <a:t>elemento</a:t>
                      </a:r>
                      <a:r>
                        <a:rPr sz="1300" dirty="0"/>
                        <a:t> (&lt;canvas&gt;)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Múltiplos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nós</a:t>
                      </a:r>
                      <a:r>
                        <a:rPr sz="1300" dirty="0"/>
                        <a:t> DOM (&lt;circle&gt;, &lt;path&gt;)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/>
                        <a:t>Performance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Excelente para milhares de objetos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Degrada</a:t>
                      </a:r>
                      <a:r>
                        <a:rPr sz="1300" dirty="0"/>
                        <a:t> com </a:t>
                      </a:r>
                      <a:r>
                        <a:rPr sz="1300" dirty="0" err="1"/>
                        <a:t>milhares</a:t>
                      </a:r>
                      <a:r>
                        <a:rPr sz="1300" dirty="0"/>
                        <a:t> de </a:t>
                      </a:r>
                      <a:r>
                        <a:rPr sz="1300" dirty="0" err="1"/>
                        <a:t>nós</a:t>
                      </a:r>
                      <a:r>
                        <a:rPr sz="1300" dirty="0"/>
                        <a:t> no DOM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Interatividade</a:t>
                      </a:r>
                      <a:endParaRPr sz="13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Calculada por coordenadas x/y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Eventos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nativos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em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cada</a:t>
                      </a:r>
                      <a:r>
                        <a:rPr sz="1300" dirty="0"/>
                        <a:t> </a:t>
                      </a:r>
                      <a:r>
                        <a:rPr sz="1300" dirty="0" err="1"/>
                        <a:t>nó</a:t>
                      </a:r>
                      <a:r>
                        <a:rPr sz="1300" dirty="0"/>
                        <a:t> (click, hover)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235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Melhor</a:t>
                      </a:r>
                      <a:r>
                        <a:rPr sz="1300" dirty="0"/>
                        <a:t> para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/>
                        <a:t>Jogos 2D, edição de fotos, simulações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rPr sz="1300" dirty="0" err="1"/>
                        <a:t>Ícones</a:t>
                      </a:r>
                      <a:r>
                        <a:rPr sz="1300" dirty="0"/>
                        <a:t>, </a:t>
                      </a:r>
                      <a:r>
                        <a:rPr sz="1300" dirty="0" err="1"/>
                        <a:t>logotipos</a:t>
                      </a:r>
                      <a:r>
                        <a:rPr sz="1300" dirty="0"/>
                        <a:t>, </a:t>
                      </a:r>
                      <a:r>
                        <a:rPr sz="1300" dirty="0" err="1"/>
                        <a:t>infográficos</a:t>
                      </a:r>
                      <a:r>
                        <a:rPr sz="1300" dirty="0"/>
                        <a:t>, UI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Geolocation API &amp; Web Workers: Hardware e Multithreading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29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Conectando a aplicação à localização do dispositivo e permitindo processamento pesado sem congelar a interface do usuário.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85969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Sensores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045305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1. Geolocation API (</a:t>
            </a:r>
            <a:r>
              <a:rPr dirty="0" err="1"/>
              <a:t>Localização</a:t>
            </a:r>
            <a:r>
              <a:rPr dirty="0"/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" y="1975104"/>
            <a:ext cx="5148072" cy="2514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3504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Obtendo Coordenadas GPS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04288"/>
            <a:ext cx="4892040" cy="2148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if ('geolocation' in navigator)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navigator.geolocation.getCurrentPosition(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(pos) =&gt;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  const lat = pos.coords.latitude;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  const lng = pos.coords.longitude;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  console.log(`Posição: ${lat}, ${lng}`);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},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1F5F9"/>
                </a:solidFill>
                <a:latin typeface="Consolas"/>
              </a:rPr>
              <a:t>    (err) =&gt; console.error(err.message),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  { enableHighAccuracy: true, timeout: 5000 }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" y="4599432"/>
            <a:ext cx="5148072" cy="4616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Privacidade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&amp; HTTPS: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Exige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permissão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explícita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conexão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segura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(HTTPS).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394899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527048"/>
            <a:ext cx="3820363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2. Web Workers (Multithreading)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37376" y="1975104"/>
            <a:ext cx="5148072" cy="25146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37376" y="1975104"/>
            <a:ext cx="5148072" cy="2926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27432" rIns="0" bIns="0" rtlCol="0" anchor="ctr"/>
          <a:lstStyle/>
          <a:p>
            <a:pPr algn="ctr">
              <a:defRPr sz="1100" b="1">
                <a:solidFill>
                  <a:srgbClr val="CBD5E1"/>
                </a:solidFill>
                <a:latin typeface="Consolas"/>
              </a:defRPr>
            </a:pPr>
            <a:r>
              <a:t>📄 Processamento sem Travar a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304288"/>
            <a:ext cx="4892040" cy="2148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// main.js (Thread Principal da UI)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const worker = new Worker('worker.js');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worker.postMessage({ dados: [1, 2, 3] });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worker.onmessage = (e) =&gt; console.log(e.data);</a:t>
            </a:r>
          </a:p>
          <a:p>
            <a:pPr>
              <a:spcAft>
                <a:spcPts val="150"/>
              </a:spcAft>
            </a:pPr>
            <a:endParaRPr sz="1150">
              <a:solidFill>
                <a:srgbClr val="FDE047"/>
              </a:solidFill>
              <a:latin typeface="Consolas"/>
            </a:endParaRP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94A3B8"/>
                </a:solidFill>
                <a:latin typeface="Consolas"/>
              </a:rPr>
              <a:t>// worker.js (Thread Background)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self.onmessage = (e) =&gt; {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const res = processamentoPesado(e.data);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  self.postMessage(res);</a:t>
            </a:r>
          </a:p>
          <a:p>
            <a:pPr>
              <a:spcAft>
                <a:spcPts val="150"/>
              </a:spcAft>
            </a:pPr>
            <a:r>
              <a:rPr sz="1150">
                <a:solidFill>
                  <a:srgbClr val="FDE047"/>
                </a:solidFill>
                <a:latin typeface="Consolas"/>
              </a:rPr>
              <a:t>};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599432"/>
            <a:ext cx="5148072" cy="6924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Sem Acesso ao DOM: </a:t>
            </a:r>
            <a:r>
              <a:rPr sz="1500">
                <a:solidFill>
                  <a:srgbClr val="1E293B"/>
                </a:solidFill>
                <a:latin typeface="Segoe UI"/>
              </a:rPr>
              <a:t>Workers não tocam no DOM — comunicam-se exclusivamente via mensagens (postMessage).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Acessibilidade Web (A11y) e Princípios da WCAG 2.1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30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A Web é universal por definição. Desenvolver com acessibilidade é uma obrigação legal, ética e técnica de todo desenvolvedor de software.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36008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Padrão W3C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89534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Os</a:t>
            </a:r>
            <a:r>
              <a:rPr dirty="0"/>
              <a:t> 4 </a:t>
            </a:r>
            <a:r>
              <a:rPr dirty="0" err="1"/>
              <a:t>Princípios</a:t>
            </a:r>
            <a:r>
              <a:rPr dirty="0"/>
              <a:t> POUR da WCAG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2251562"/>
            <a:ext cx="5148072" cy="31547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P —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Perceptível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(Perceivable):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Informações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componentes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da UI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devem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apresentados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formas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possam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perceber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(ex: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alternativos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imagens,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contraste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cores).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O —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Operável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(Operable):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 interface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deve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ser 100%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navegável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teclado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limites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tempo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forçados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armadilhas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(focus traps).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U —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Compreensível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(Understandable):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claros,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funcionamento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previsível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formulários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auxílio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prevenção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erros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R — Robusto (Robust):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Código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padronizado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interpretável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ampla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variedade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user agents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tecnologias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assistivas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atuais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futuras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169956" y="1536192"/>
            <a:ext cx="1433779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Atributos ARIA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595420" cy="4770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ARIA (Accessible Rich Internet Applications)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251562"/>
            <a:ext cx="5148072" cy="26930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Primeira Regra do ARIA: </a:t>
            </a:r>
            <a:r>
              <a:rPr sz="1500">
                <a:solidFill>
                  <a:srgbClr val="1E293B"/>
                </a:solidFill>
                <a:latin typeface="Segoe UI"/>
              </a:rPr>
              <a:t>Se existir um elemento nativo do HTML5 com a semântica desejada (ex: &lt;button&gt;, &lt;nav&gt;), USE-O! Não reinvente com &lt;div role="button"&gt;.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aria-label="Texto": </a:t>
            </a:r>
            <a:r>
              <a:rPr sz="1500">
                <a:solidFill>
                  <a:srgbClr val="1E293B"/>
                </a:solidFill>
                <a:latin typeface="Segoe UI"/>
              </a:rPr>
              <a:t>Fornece um rótulo textual invisível para botões com ícones visuais (ex: botão com ícone de lupa: aria-label="Pesquisar").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aria-hidden="true": </a:t>
            </a:r>
            <a:r>
              <a:rPr sz="1500">
                <a:solidFill>
                  <a:srgbClr val="1E293B"/>
                </a:solidFill>
                <a:latin typeface="Segoe UI"/>
              </a:rPr>
              <a:t>Oculta elementos puramente decorativos de tecnologias assistivas.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F172A"/>
                </a:solidFill>
                <a:latin typeface="Segoe UI"/>
              </a:rPr>
              <a:t>▪ aria-live="polite": </a:t>
            </a:r>
            <a:r>
              <a:rPr sz="1500">
                <a:solidFill>
                  <a:srgbClr val="1E293B"/>
                </a:solidFill>
                <a:latin typeface="Segoe UI"/>
              </a:rPr>
              <a:t>Notifica o leitor de tela automaticamente sobre atualizações dinâmicas de conteúdo na página (ex: carrinho de compras).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Boas Práticas de Engenharia Frontend &amp; Segurança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31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Checklist profissional de boas práticas de código limpo, conformidade com os validadores do W3C e proteção contra vulnerabilidades.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636008" y="1536192"/>
            <a:ext cx="113385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Clean 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895344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Qualidade</a:t>
            </a:r>
            <a:r>
              <a:rPr dirty="0"/>
              <a:t> de Código &amp; SEO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3539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Validação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W3C: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Execute 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(validator.w3.org) no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HTML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identificar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tags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fechadas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inválidos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erros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aninhamento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Sintaxe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Consistente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Sempre use tags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minúsculas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(lowercase),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aspas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duplas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indentação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padronizada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(2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4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espaços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Atributo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alt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Obrigatório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Toda tag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img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 DEVE ter alt. Se for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decorativa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use alt=""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vazio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explicitamente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Performance de Assets: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Comprima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imagens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formato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WebP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/AVIF, use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fontes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WOFF2 com font-display: swap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minifique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o bundle HTML.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19841" y="1536192"/>
            <a:ext cx="983894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4045305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Segurança na Camada 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9908" y="1890040"/>
            <a:ext cx="5148072" cy="4001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Prevenção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XSS (Cross-Site Scripting):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NUNCA use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innerHTML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dados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vindos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usuários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sanitizados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Prefira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textContent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ou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bibliotecas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sanitização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DOMPurify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Links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Externos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Seguros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Sempre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adicione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="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noopener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noreferrer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"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usar target="_blank"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evitar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ataques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window.opener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tabnabbing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Content Security Policy (CSP):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Configure o header HTTP CSP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restringir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origens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scripts, imagens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conexões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permitidas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HTTPS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Obrigatório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APIs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modernas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(Geolocation, Service Workers,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Câmera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bloqueadas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conexões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HTTP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inseguras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Desafio Prático: Projeto de Portal Semântico Completo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32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Exercício de laboratório para consolidar todos os conceitos abordados através do desenvolvimento de uma aplicação web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43466"/>
            <a:ext cx="5532120" cy="480130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855464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Desafio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411480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Especificação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: 'Portal </a:t>
            </a:r>
            <a:r>
              <a:rPr dirty="0" err="1"/>
              <a:t>Fatec</a:t>
            </a:r>
            <a:r>
              <a:rPr dirty="0"/>
              <a:t> Tech'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35394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1.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Estrutura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Canônica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Criar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documento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HTML5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completo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&lt;meta&gt; charset, viewport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responsivo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Open Graph e Favicon.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2. Layout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Semântico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Estruturar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página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utilizando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&lt;header&gt;, &lt;nav&gt;, &lt;main&gt;, &lt;article&gt;, &lt;section&gt;, &lt;aside&gt; e &lt;footer&gt;.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3.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Tabela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Cursos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Desenvolver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uma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acessível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&lt;caption&gt;,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thead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tbody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tfoot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atributos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scope.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4.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Formulário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de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Inscrição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Formulário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&lt;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fieldset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&gt;, &lt;legend&gt;, inputs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especializados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(email,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, date, range)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nativa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1444752"/>
            <a:ext cx="5440680" cy="47000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689336" y="1536192"/>
            <a:ext cx="91440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Rubrica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411480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t>Critérios de Avaliação Técnica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330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Conformidade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W3C (25%):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0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erros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0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avisos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no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W3C.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Semântica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e A11y (25%):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Score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mínimo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95 no Lighthouse (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Acessibilidade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)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lógica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teclado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foco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quebrado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Validação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e UX (25%):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Feedback visual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correto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campos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inválidos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associação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precisa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labels.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Responsividade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e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Mídia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(25%):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Imagens com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srcset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/sizes,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vídeo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com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legendas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WebVTT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adaptação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fluida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telas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mobile.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235440" cy="749808"/>
          </a:xfrm>
          <a:prstGeom prst="rect">
            <a:avLst/>
          </a:prstGeom>
          <a:noFill/>
        </p:spPr>
        <p:txBody>
          <a:bodyPr wrap="square" lIns="0" tIns="73152" rIns="0" bIns="0">
            <a:spAutoFit/>
          </a:bodyPr>
          <a:lstStyle/>
          <a:p>
            <a:pPr>
              <a:defRPr sz="2250" b="1">
                <a:solidFill>
                  <a:srgbClr val="FFFFFF"/>
                </a:solidFill>
                <a:latin typeface="Segoe UI"/>
              </a:defRPr>
            </a:pPr>
            <a:r>
              <a:t>Referências Bibliográficas e Leituras Recomendadas</a:t>
            </a:r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128016"/>
            <a:ext cx="1965960" cy="6583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5760" y="6327648"/>
            <a:ext cx="8686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33 / 33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6327648"/>
            <a:ext cx="8595360" cy="347472"/>
          </a:xfrm>
          <a:prstGeom prst="rect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050" b="1">
                <a:solidFill>
                  <a:srgbClr val="0F172A"/>
                </a:solidFill>
                <a:latin typeface="Segoe UI"/>
              </a:defRPr>
            </a:pPr>
            <a:r>
              <a:t>Fatec Ribeirão Preto · ADS · Desenvolvimento Web · Prof. Dr. Jean Miler Scatena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6327648"/>
            <a:ext cx="1783080" cy="34747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334155"/>
                </a:solidFill>
                <a:latin typeface="Segoe UI"/>
              </a:defRPr>
            </a:pPr>
            <a:r>
              <a:t>Fontes oficiais e documentações técnicas primárias para consulta contínua e aprofundamento acadêmico.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371600"/>
            <a:ext cx="5532120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1104" y="1536192"/>
            <a:ext cx="1508760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Fontes Oficiais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1527048"/>
            <a:ext cx="3520440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 err="1"/>
              <a:t>Documentação</a:t>
            </a:r>
            <a:r>
              <a:rPr dirty="0"/>
              <a:t> </a:t>
            </a:r>
            <a:r>
              <a:rPr dirty="0" err="1"/>
              <a:t>Primária</a:t>
            </a:r>
            <a:r>
              <a:rPr dirty="0"/>
              <a:t> &amp; </a:t>
            </a:r>
            <a:r>
              <a:rPr dirty="0" err="1"/>
              <a:t>Padrões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03504" y="1975104"/>
            <a:ext cx="5148072" cy="312906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WHATWG — HTML Living Standard: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especificação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autoridade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máxima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sobre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linguagem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HTML.
</a:t>
            </a:r>
            <a:r>
              <a:rPr sz="1500" dirty="0">
                <a:solidFill>
                  <a:srgbClr val="1E293B"/>
                </a:solidFill>
                <a:latin typeface="Segoe UI"/>
                <a:hlinkClick r:id="rId3"/>
              </a:rPr>
              <a:t>https://html.spec.whatwg.org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MDN Web Docs (Mozilla):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O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melhor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guia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prático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referência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exemplos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código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desenvolvedores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web.
</a:t>
            </a:r>
            <a:r>
              <a:rPr sz="1500" dirty="0">
                <a:solidFill>
                  <a:srgbClr val="1E293B"/>
                </a:solidFill>
                <a:latin typeface="Segoe UI"/>
                <a:hlinkClick r:id="rId4"/>
              </a:rPr>
              <a:t>https://developer.mozilla.org/pt-BR/docs/Web/HTML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W3C — Web Accessibility Initiative (WAI):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Diretrizes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oficiais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acessibilidade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para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conteúdo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Web (WCAG 2.1 / 2.2).
https://www.w3.org/WAI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371600"/>
            <a:ext cx="5532120" cy="47731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394899" y="1536192"/>
            <a:ext cx="1208836" cy="292608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27432" rIns="36576" bIns="0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Ferramental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527048"/>
            <a:ext cx="3820363" cy="2385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550" b="1">
                <a:solidFill>
                  <a:srgbClr val="0F172A"/>
                </a:solidFill>
                <a:latin typeface="Segoe UI"/>
              </a:defRPr>
            </a:pPr>
            <a:r>
              <a:rPr dirty="0"/>
              <a:t>Ferramentas &amp; </a:t>
            </a: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Qualidade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437376" y="1975104"/>
            <a:ext cx="5148072" cy="28982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W3C Markup Validation Service: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Validador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oficial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conformidade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integridade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código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HTML.
</a:t>
            </a:r>
            <a:r>
              <a:rPr sz="1500" dirty="0">
                <a:solidFill>
                  <a:srgbClr val="1E293B"/>
                </a:solidFill>
                <a:latin typeface="Segoe UI"/>
                <a:hlinkClick r:id="rId5"/>
              </a:rPr>
              <a:t>https://validator.w3.org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Can I Use (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caniuse.com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):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Tabela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comparativa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compatibilidade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recursos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em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todos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os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navegadores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
</a:t>
            </a:r>
            <a:r>
              <a:rPr sz="1500" dirty="0">
                <a:solidFill>
                  <a:srgbClr val="1E293B"/>
                </a:solidFill>
                <a:latin typeface="Segoe UI"/>
                <a:hlinkClick r:id="rId6"/>
              </a:rPr>
              <a:t>https://caniuse.com</a:t>
            </a:r>
            <a:endParaRPr lang="pt-BR"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endParaRPr sz="1500" dirty="0">
              <a:solidFill>
                <a:srgbClr val="1E293B"/>
              </a:solidFill>
              <a:latin typeface="Segoe UI"/>
            </a:endParaRP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F172A"/>
                </a:solidFill>
                <a:latin typeface="Segoe UI"/>
              </a:rPr>
              <a:t>▪ </a:t>
            </a:r>
            <a:r>
              <a:rPr sz="1500" b="1" dirty="0" err="1">
                <a:solidFill>
                  <a:srgbClr val="0F172A"/>
                </a:solidFill>
                <a:latin typeface="Segoe UI"/>
              </a:rPr>
              <a:t>WebAIM</a:t>
            </a:r>
            <a:r>
              <a:rPr sz="1500" b="1" dirty="0">
                <a:solidFill>
                  <a:srgbClr val="0F172A"/>
                </a:solidFill>
                <a:latin typeface="Segoe UI"/>
              </a:rPr>
              <a:t> — WAVE Accessibility Tool: 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Ferramenta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diagnóstico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e auditoria de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acessibilidade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 visual e 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estrutural</a:t>
            </a:r>
            <a:r>
              <a:rPr sz="1500" dirty="0">
                <a:solidFill>
                  <a:srgbClr val="1E293B"/>
                </a:solidFill>
                <a:latin typeface="Segoe UI"/>
              </a:rPr>
              <a:t>.
https://</a:t>
            </a:r>
            <a:r>
              <a:rPr sz="1500" dirty="0" err="1">
                <a:solidFill>
                  <a:srgbClr val="1E293B"/>
                </a:solidFill>
                <a:latin typeface="Segoe UI"/>
              </a:rPr>
              <a:t>wave.webaim.org</a:t>
            </a:r>
            <a:endParaRPr sz="1500" dirty="0">
              <a:solidFill>
                <a:srgbClr val="1E293B"/>
              </a:solidFill>
              <a:latin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5072D61066C646B849882305FEB802" ma:contentTypeVersion="0" ma:contentTypeDescription="Crie um novo documento." ma:contentTypeScope="" ma:versionID="618a20c418142da21e20d8024b91812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EB88F6F-A72A-47B1-8676-612074F44BA4}"/>
</file>

<file path=customXml/itemProps2.xml><?xml version="1.0" encoding="utf-8"?>
<ds:datastoreItem xmlns:ds="http://schemas.openxmlformats.org/officeDocument/2006/customXml" ds:itemID="{F92E2787-EF60-421C-BF35-2CECC5291059}"/>
</file>

<file path=customXml/itemProps3.xml><?xml version="1.0" encoding="utf-8"?>
<ds:datastoreItem xmlns:ds="http://schemas.openxmlformats.org/officeDocument/2006/customXml" ds:itemID="{D41CDF1F-DDA4-43F9-8E37-CE08B07F90B5}"/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9193</Words>
  <Application>Microsoft Macintosh PowerPoint</Application>
  <PresentationFormat>Widescreen</PresentationFormat>
  <Paragraphs>998</Paragraphs>
  <Slides>33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Consolas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Jean Scatena</cp:lastModifiedBy>
  <cp:revision>27</cp:revision>
  <dcterms:created xsi:type="dcterms:W3CDTF">2013-01-27T09:14:16Z</dcterms:created>
  <dcterms:modified xsi:type="dcterms:W3CDTF">2026-08-14T12:03:17Z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0x0101002B5072D61066C646B849882305FEB802</vt:lpwstr>
  </property>
</Properties>
</file>