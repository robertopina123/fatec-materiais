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customXml" Target="../customXml/item1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d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11480"/>
            <a:ext cx="3017520" cy="1097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920240"/>
            <a:ext cx="12191695" cy="2194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29968"/>
            <a:ext cx="1078992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50" b="1">
                <a:solidFill>
                  <a:srgbClr val="FFFFFF"/>
                </a:solidFill>
                <a:latin typeface="Segoe UI"/>
              </a:defRPr>
            </a:pPr>
            <a:r>
              <a:t>DESENVOLVIMENTO WEB · CURSO SUPERIOR DE ADS</a:t>
            </a:r>
          </a:p>
          <a:p>
            <a:pPr>
              <a:defRPr sz="3300" b="1">
                <a:solidFill>
                  <a:srgbClr val="FFFFFF"/>
                </a:solidFill>
                <a:latin typeface="Segoe UI"/>
              </a:defRPr>
            </a:pPr>
            <a:r>
              <a:t>CSS: Folhas de Estilo em Cascata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43400"/>
            <a:ext cx="10789920" cy="1965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480560"/>
            <a:ext cx="10241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Professor Dr. Jean Miler Scatena</a:t>
            </a:r>
          </a:p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Email institucional: jean.scatena@fatec.sp.gov.br</a:t>
            </a:r>
          </a:p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Fatec Ribeirão Preto · Tecnologia em Análise e Desenvolvimento de Sistemas</a:t>
            </a:r>
          </a:p>
          <a:p>
            <a:pPr>
              <a:defRPr sz="1500" b="1">
                <a:solidFill>
                  <a:srgbClr val="B91C1C"/>
                </a:solidFill>
                <a:latin typeface="Segoe UI"/>
              </a:defRPr>
            </a:pPr>
            <a:r>
              <a:t>Semestre Letivo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Introdução ao CSS: Conceito e Benefícios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O estilo em cascata (CSS) é uma poderosa técnica para formatação e controle visual do conteúdo web.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3420" y="1536192"/>
            <a:ext cx="126644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Arquitetura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7627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O que é CSS?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Definição Oficial: </a:t>
            </a:r>
            <a:r>
              <a:rPr sz="1450">
                <a:solidFill>
                  <a:srgbClr val="1E293B"/>
                </a:solidFill>
                <a:latin typeface="Segoe UI"/>
              </a:rPr>
              <a:t>CSS (Cascading Style Sheets) é o padrão da W3C criado para descrever a apresentação visual de páginas web.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Formatação de Conteúdo: </a:t>
            </a:r>
            <a:r>
              <a:rPr sz="1450">
                <a:solidFill>
                  <a:srgbClr val="1E293B"/>
                </a:solidFill>
                <a:latin typeface="Segoe UI"/>
              </a:rPr>
              <a:t>Técnica fundamental e indispensável para formatar e estilizar elementos estruturados em XHTML e HTML.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Separação de Responsabilidades: </a:t>
            </a:r>
            <a:r>
              <a:rPr sz="1450">
                <a:solidFill>
                  <a:srgbClr val="1E293B"/>
                </a:solidFill>
                <a:latin typeface="Segoe UI"/>
              </a:rPr>
              <a:t>Isola estritamente a marcação lógica e semântica (conteúdo) da camada de exibição estética (design).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Evolução da Web Moderna: </a:t>
            </a:r>
            <a:r>
              <a:rPr sz="1450">
                <a:solidFill>
                  <a:srgbClr val="1E293B"/>
                </a:solidFill>
                <a:latin typeface="Segoe UI"/>
              </a:rPr>
              <a:t>Surgiu para libertar o HTML de tags puramente visuais, restabelecendo o foco dos dados e acessibilidade.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Independência de Mídia: </a:t>
            </a:r>
            <a:r>
              <a:rPr sz="1450">
                <a:solidFill>
                  <a:srgbClr val="1E293B"/>
                </a:solidFill>
                <a:latin typeface="Segoe UI"/>
              </a:rPr>
              <a:t>Permite adaptar a apresentação para diferentes telas, projetores e folhas de impressão a partir de um mesmo HTML.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92740" y="1536192"/>
            <a:ext cx="111099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Vantagens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91820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Principais Características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Organização das Tags: </a:t>
            </a:r>
            <a:r>
              <a:rPr sz="1450">
                <a:solidFill>
                  <a:srgbClr val="1E293B"/>
                </a:solidFill>
                <a:latin typeface="Segoe UI"/>
              </a:rPr>
              <a:t>Centraliza todos os comandos e parâmetros de formatação em um local limpo e estruturado.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Simplicidade na Definição: </a:t>
            </a:r>
            <a:r>
              <a:rPr sz="1450">
                <a:solidFill>
                  <a:srgbClr val="1E293B"/>
                </a:solidFill>
                <a:latin typeface="Segoe UI"/>
              </a:rPr>
              <a:t>Sintaxe direta e intuitiva que facilita a especificação da aparência gráfica de qualquer componente.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Clareza no Código-Fonte: </a:t>
            </a:r>
            <a:r>
              <a:rPr sz="1450">
                <a:solidFill>
                  <a:srgbClr val="1E293B"/>
                </a:solidFill>
                <a:latin typeface="Segoe UI"/>
              </a:rPr>
              <a:t>O código XHTML/HTML torna-se enxuto, legível, sem repetição de tags visuais obsoletas.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Consistência Visual: </a:t>
            </a:r>
            <a:r>
              <a:rPr sz="1450">
                <a:solidFill>
                  <a:srgbClr val="1E293B"/>
                </a:solidFill>
                <a:latin typeface="Segoe UI"/>
              </a:rPr>
              <a:t>Garante que todos os títulos, parágrafos e botões de um portal mantenham exatamente o mesmo padrão estético.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Agilidade na Manutenção: </a:t>
            </a:r>
            <a:r>
              <a:rPr sz="1450">
                <a:solidFill>
                  <a:srgbClr val="1E293B"/>
                </a:solidFill>
                <a:latin typeface="Segoe UI"/>
              </a:rPr>
              <a:t>Alterações pontuais no arquivo de estilo refletem instantaneamente em todas as páginas do sistema.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Sintaxe Fundamental: Anatomia da Regra CSS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Toda regra CSS é composta por um seletor e um bloco de declarações contendo pares de propriedade e valor.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sintaxe_regra.css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/* Regra Canônica Básica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seletor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propriedade1: valor1;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propriedade2: valor2;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...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propriedadeN: valorN;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/* Exemplo Concreto de Aplicação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p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color: blue;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font-size: 16px;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text-align: justify;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0463" y="1536192"/>
            <a:ext cx="103327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Anatomia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74903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Componentes da Regra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Seletor: </a:t>
            </a:r>
            <a:r>
              <a:rPr sz="1400">
                <a:solidFill>
                  <a:srgbClr val="1E293B"/>
                </a:solidFill>
                <a:latin typeface="Segoe UI"/>
              </a:rPr>
              <a:t>Indica com precisão qual elemento ou grupo de elementos do documento receberá a estilização (ex: p, h1, .minha-classe).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Chaves { }: </a:t>
            </a:r>
            <a:r>
              <a:rPr sz="1400">
                <a:solidFill>
                  <a:srgbClr val="1E293B"/>
                </a:solidFill>
                <a:latin typeface="Segoe UI"/>
              </a:rPr>
              <a:t>Delimitam o bloco de declaração onde todas as propriedades visuais devem ser agrupadas.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Propriedade: </a:t>
            </a:r>
            <a:r>
              <a:rPr sz="1400">
                <a:solidFill>
                  <a:srgbClr val="1E293B"/>
                </a:solidFill>
                <a:latin typeface="Segoe UI"/>
              </a:rPr>
              <a:t>O aspecto visual ou característica do elemento que se deseja configurar (ex: color, font-size, margin).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Dois-Pontos ( : ): </a:t>
            </a:r>
            <a:r>
              <a:rPr sz="1400">
                <a:solidFill>
                  <a:srgbClr val="1E293B"/>
                </a:solidFill>
                <a:latin typeface="Segoe UI"/>
              </a:rPr>
              <a:t>Operador de atribuição obrigatório que separa a propriedade do seu respectivo valor.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Valor: </a:t>
            </a:r>
            <a:r>
              <a:rPr sz="1400">
                <a:solidFill>
                  <a:srgbClr val="1E293B"/>
                </a:solidFill>
                <a:latin typeface="Segoe UI"/>
              </a:rPr>
              <a:t>A configuração ou medida atribuída àquela propriedade (ex: blue, 16px, justify).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Ponto-e-Vírgula ( ; ): </a:t>
            </a:r>
            <a:r>
              <a:rPr sz="1400">
                <a:solidFill>
                  <a:srgbClr val="1E293B"/>
                </a:solidFill>
                <a:latin typeface="Segoe UI"/>
              </a:rPr>
              <a:t>Terminador sintático indispensável ao final de cada declaração para evitar falhas de interpretação.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Formas de Inserção: As Três Maneiras de Aplicar CSS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Na construção de um documento XHTML/HTML, os estilos em cascata podem ser especificados de três maneiras.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10612" y="1536192"/>
            <a:ext cx="126644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Tag &lt;style&gt;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186994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1. Internal (Interno)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Onde Reside: </a:t>
            </a:r>
            <a:r>
              <a:rPr sz="1400">
                <a:solidFill>
                  <a:srgbClr val="1E293B"/>
                </a:solidFill>
                <a:latin typeface="Segoe UI"/>
              </a:rPr>
              <a:t>Especificado no próprio documento, dentro da tag &lt;head&gt; com o elemento &lt;style&gt;.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Escopo de Ação: </a:t>
            </a:r>
            <a:r>
              <a:rPr sz="1400">
                <a:solidFill>
                  <a:srgbClr val="1E293B"/>
                </a:solidFill>
                <a:latin typeface="Segoe UI"/>
              </a:rPr>
              <a:t>Válido exclusivamente para a página onde está codificado.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Aplicação Ideal: </a:t>
            </a:r>
            <a:r>
              <a:rPr sz="1400">
                <a:solidFill>
                  <a:srgbClr val="1E293B"/>
                </a:solidFill>
                <a:latin typeface="Segoe UI"/>
              </a:rPr>
              <a:t>Útil para páginas únicas, prototipação rápida ou personalizações locais.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Desafio: </a:t>
            </a:r>
            <a:r>
              <a:rPr sz="1400">
                <a:solidFill>
                  <a:srgbClr val="1E293B"/>
                </a:solidFill>
                <a:latin typeface="Segoe UI"/>
              </a:rPr>
              <a:t>Precisa ser replicado em cada documento presente no site, dificultando mudanças em massa.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69380" y="1536192"/>
            <a:ext cx="126644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Recomendado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527048"/>
            <a:ext cx="186994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2. External (Externo)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Onde Reside: </a:t>
            </a:r>
            <a:r>
              <a:rPr sz="1400">
                <a:solidFill>
                  <a:srgbClr val="1E293B"/>
                </a:solidFill>
                <a:latin typeface="Segoe UI"/>
              </a:rPr>
              <a:t>Codificado em arquivo independente (.css) e importado via tag &lt;link&gt;.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Escopo de Ação: </a:t>
            </a:r>
            <a:r>
              <a:rPr sz="1400">
                <a:solidFill>
                  <a:srgbClr val="1E293B"/>
                </a:solidFill>
                <a:latin typeface="Segoe UI"/>
              </a:rPr>
              <a:t>Compartilhado globalmente por dezenas ou centenas de páginas do portal.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Eficiência: </a:t>
            </a:r>
            <a:r>
              <a:rPr sz="1400">
                <a:solidFill>
                  <a:srgbClr val="1E293B"/>
                </a:solidFill>
                <a:latin typeface="Segoe UI"/>
              </a:rPr>
              <a:t>A maneira mais eficiente e escalável para construção e manutenção profissional.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Cache de Navegador: </a:t>
            </a:r>
            <a:r>
              <a:rPr sz="1400">
                <a:solidFill>
                  <a:srgbClr val="1E293B"/>
                </a:solidFill>
                <a:latin typeface="Segoe UI"/>
              </a:rPr>
              <a:t>Baixado apenas uma vez, otimizando o carregamento subsequente.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15015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Má Prática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527048"/>
            <a:ext cx="19476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3. Inline (Em Linha)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Onde Reside: </a:t>
            </a:r>
            <a:r>
              <a:rPr sz="1400">
                <a:solidFill>
                  <a:srgbClr val="1E293B"/>
                </a:solidFill>
                <a:latin typeface="Segoe UI"/>
              </a:rPr>
              <a:t>Inserido diretamente dentro do corpo da tag HTML através do atributo style='...'.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Escopo de Ação: </a:t>
            </a:r>
            <a:r>
              <a:rPr sz="1400">
                <a:solidFill>
                  <a:srgbClr val="1E293B"/>
                </a:solidFill>
                <a:latin typeface="Segoe UI"/>
              </a:rPr>
              <a:t>Restrito unicamente àquela tag específica onde foi digitado.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Problema Crítico: </a:t>
            </a:r>
            <a:r>
              <a:rPr sz="1400">
                <a:solidFill>
                  <a:srgbClr val="1E293B"/>
                </a:solidFill>
                <a:latin typeface="Segoe UI"/>
              </a:rPr>
              <a:t>Não é uma boa prática de programação web.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Alto Acoplamento: </a:t>
            </a:r>
            <a:r>
              <a:rPr sz="1400">
                <a:solidFill>
                  <a:srgbClr val="1E293B"/>
                </a:solidFill>
                <a:latin typeface="Segoe UI"/>
              </a:rPr>
              <a:t>Mistura marcação com apresentação, destruindo a manutenibilidade do código.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Estilo Interno (Internal): Estrutura no &lt;head&gt;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Quando definidos internamente, todos os seletores de formatação são especificados dentro da tag &lt;head&gt;.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05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interno.html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&lt;html&gt;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&lt;head&gt;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&lt;title&gt;Exemplo: Estilo Interno&lt;/title&gt;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    &lt;!-- Definição dos estilos no cabeçalho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&lt;style type="text/css"&gt;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  p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    color: blue;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 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&lt;/style&gt;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&lt;/head&gt;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&lt;body&gt;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    &lt;!-- O corpo do documento receberá as regras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&lt;p&gt;Conteúdo da Página&lt;/p&gt;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&lt;/body&gt;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&lt;/html&gt;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59567" y="1536192"/>
            <a:ext cx="1344168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Escopo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4381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Características do Estilo Interno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Declaração Centralizada: </a:t>
            </a:r>
            <a:r>
              <a:rPr sz="1400">
                <a:solidFill>
                  <a:srgbClr val="1E293B"/>
                </a:solidFill>
                <a:latin typeface="Segoe UI"/>
              </a:rPr>
              <a:t>Todas as regras da página ficam reunidas em um único ponto no início do arquivo.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Tag &lt;style&gt;: </a:t>
            </a:r>
            <a:r>
              <a:rPr sz="1400">
                <a:solidFill>
                  <a:srgbClr val="1E293B"/>
                </a:solidFill>
                <a:latin typeface="Segoe UI"/>
              </a:rPr>
              <a:t>Usa a tag &lt;style type='text/css'&gt; para que o motor de renderização identifique as diretivas de estilo.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Limitação de Escopo: </a:t>
            </a:r>
            <a:r>
              <a:rPr sz="1400">
                <a:solidFill>
                  <a:srgbClr val="1E293B"/>
                </a:solidFill>
                <a:latin typeface="Segoe UI"/>
              </a:rPr>
              <a:t>Os estilos têm validade estritamente local; nenhuma outra página do site herda essas regras.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Desvantagem Crítica: </a:t>
            </a:r>
            <a:r>
              <a:rPr sz="1400">
                <a:solidFill>
                  <a:srgbClr val="1E293B"/>
                </a:solidFill>
                <a:latin typeface="Segoe UI"/>
              </a:rPr>
              <a:t>Assim, os estilos devem ser codificados em cada documento XHTML/HTML presente no site.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Custo de Manutenção: </a:t>
            </a:r>
            <a:r>
              <a:rPr sz="1400">
                <a:solidFill>
                  <a:srgbClr val="1E293B"/>
                </a:solidFill>
                <a:latin typeface="Segoe UI"/>
              </a:rPr>
              <a:t>Se for necessário alterar a cor padrão de azul para verde, cada página do site precisará ser aberta e editada manualmente.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Exemplo Prático: Estilo Interno em Funcionamento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O navegador interpreta o bloco &lt;style&gt; no cabeçalho e renderiza o parágrafo no corpo formatado em azul.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06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exemplo_completo.html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&lt;html&gt;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&lt;head&gt;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&lt;title&gt;Demonstração Prática&lt;/title&gt;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&lt;style type="text/css"&gt;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  p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    color: blue;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 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&lt;/style&gt;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&lt;/head&gt;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&lt;body&gt;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&lt;p&gt;Conteúdo da Página&lt;/p&gt;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    &lt;!-- → parágrafo formatado em azul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&lt;/body&gt;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&lt;/html&gt;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0463" y="1536192"/>
            <a:ext cx="103327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Execução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74903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Fluxo de Renderização do Navegador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Leitura do Cabeçalho: </a:t>
            </a:r>
            <a:r>
              <a:rPr sz="1400">
                <a:solidFill>
                  <a:srgbClr val="1E293B"/>
                </a:solidFill>
                <a:latin typeface="Segoe UI"/>
              </a:rPr>
              <a:t>O browser efetua o parsing inicial do &lt;head&gt; e encontra a tag &lt;style&gt; com a regra p { color: blue; }.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Criação da Árvore CSSOM: </a:t>
            </a:r>
            <a:r>
              <a:rPr sz="1400">
                <a:solidFill>
                  <a:srgbClr val="1E293B"/>
                </a:solidFill>
                <a:latin typeface="Segoe UI"/>
              </a:rPr>
              <a:t>O motor constrói o CSS Object Model contendo a regra vinculada à tag &lt;p&gt;.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Associação com o DOM: </a:t>
            </a:r>
            <a:r>
              <a:rPr sz="1400">
                <a:solidFill>
                  <a:srgbClr val="1E293B"/>
                </a:solidFill>
                <a:latin typeface="Segoe UI"/>
              </a:rPr>
              <a:t>Ao processar o &lt;body&gt; e encontrar o elemento &lt;p&gt;, aplica a propriedade visual color: blue antes de pintar a tela.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Prevenção de FOUC: </a:t>
            </a:r>
            <a:r>
              <a:rPr sz="1400">
                <a:solidFill>
                  <a:srgbClr val="1E293B"/>
                </a:solidFill>
                <a:latin typeface="Segoe UI"/>
              </a:rPr>
              <a:t>Inserir os estilos no cabeçalho previne o FOUC (Flash of Unstyled Content), exibindo a página já pronta.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Resultado Visual Concreto: </a:t>
            </a:r>
            <a:r>
              <a:rPr sz="1400">
                <a:solidFill>
                  <a:srgbClr val="1E293B"/>
                </a:solidFill>
                <a:latin typeface="Segoe UI"/>
              </a:rPr>
              <a:t>O texto 'Conteúdo da Página' aparece na tela diretamente na cor azul, conforme especificado.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Estilo Externo (External): Arquitetura e Vantagens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No estilo externo, utiliza-se um arquivo separado (.css) — a forma mais eficiente para construção de sites.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07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3420" y="1536192"/>
            <a:ext cx="126644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Padrão Ouro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7627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Conceito e Arquitetura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Arquivo Independente: </a:t>
            </a:r>
            <a:r>
              <a:rPr sz="1450">
                <a:solidFill>
                  <a:srgbClr val="1E293B"/>
                </a:solidFill>
                <a:latin typeface="Segoe UI"/>
              </a:rPr>
              <a:t>Quando os estilos são definidos externamente, utiliza-se um arquivo separado (nomedoarquivo.css).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Separação Física Total: </a:t>
            </a:r>
            <a:r>
              <a:rPr sz="1450">
                <a:solidFill>
                  <a:srgbClr val="1E293B"/>
                </a:solidFill>
                <a:latin typeface="Segoe UI"/>
              </a:rPr>
              <a:t>O arquivo .css contém puramente regras de estilização, livre de qualquer tag de marcação HTML.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Importação Canônica: </a:t>
            </a:r>
            <a:r>
              <a:rPr sz="1450">
                <a:solidFill>
                  <a:srgbClr val="1E293B"/>
                </a:solidFill>
                <a:latin typeface="Segoe UI"/>
              </a:rPr>
              <a:t>O documento HTML conecta-se à folha externa através da tag &lt;link&gt; inserida no cabeçalho &lt;head&gt;.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Reuso em Larga Escala: </a:t>
            </a:r>
            <a:r>
              <a:rPr sz="1450">
                <a:solidFill>
                  <a:srgbClr val="1E293B"/>
                </a:solidFill>
                <a:latin typeface="Segoe UI"/>
              </a:rPr>
              <a:t>O mesmo arquivo nomedoarquivo.css pode ser compartilhado por centenas ou milhares de páginas do site.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Modularidade: </a:t>
            </a:r>
            <a:r>
              <a:rPr sz="1450">
                <a:solidFill>
                  <a:srgbClr val="1E293B"/>
                </a:solidFill>
                <a:latin typeface="Segoe UI"/>
              </a:rPr>
              <a:t>Permite dividir o design em múltiplos arquivos lógicos (ex: layout.css, cores.css, tipografia.css).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15015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Benefícios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Por que é a Maneira Mais Eficiente?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Construção e Manutenção Ágeis: </a:t>
            </a:r>
            <a:r>
              <a:rPr sz="1450">
                <a:solidFill>
                  <a:srgbClr val="1E293B"/>
                </a:solidFill>
                <a:latin typeface="Segoe UI"/>
              </a:rPr>
              <a:t>Essa é a maneira mais eficiente para construção e manutenção contínua de sites e aplicações.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Ponto Único de Verdade: </a:t>
            </a:r>
            <a:r>
              <a:rPr sz="1450">
                <a:solidFill>
                  <a:srgbClr val="1E293B"/>
                </a:solidFill>
                <a:latin typeface="Segoe UI"/>
              </a:rPr>
              <a:t>Alterar uma única regra no arquivo .css atualiza instantaneamente a aparência de todo o portal corporativo.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Cache de Navegador: </a:t>
            </a:r>
            <a:r>
              <a:rPr sz="1450">
                <a:solidFill>
                  <a:srgbClr val="1E293B"/>
                </a:solidFill>
                <a:latin typeface="Segoe UI"/>
              </a:rPr>
              <a:t>O arquivo .css é baixado pelo usuário uma única vez no primeiro acesso e armazenado em cache local.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Economia Expressiva de Banda: </a:t>
            </a:r>
            <a:r>
              <a:rPr sz="1450">
                <a:solidFill>
                  <a:srgbClr val="1E293B"/>
                </a:solidFill>
                <a:latin typeface="Segoe UI"/>
              </a:rPr>
              <a:t>Reduz o tamanho em bytes de cada página HTML transferida pelo servidor de hospedagem.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Carregamento Veloz: </a:t>
            </a:r>
            <a:r>
              <a:rPr sz="1450">
                <a:solidFill>
                  <a:srgbClr val="1E293B"/>
                </a:solidFill>
                <a:latin typeface="Segoe UI"/>
              </a:rPr>
              <a:t>Proporciona experiência de navegação muito mais rápida e fluida para os alunos e usuários.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Estilo Externo na Prática: Conexão via &lt;link&gt;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Demonstração da separação entre o documento HTML e a folha de estilos CSS externa.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08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4406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Pagina.html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184648" cy="3291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&lt;html&gt;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&lt;head&gt;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&lt;title&gt;Página com CSS Externo&lt;/title&gt;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    &lt;!-- Conexão com folha externa --&gt;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  &lt;link rel="stylesheet"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        type="text/css"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        href="estilo.css" /&gt;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&lt;/head&gt;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&lt;body&gt;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&lt;p&gt;Conteúdo da Página&lt;/p&gt;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    &lt;!-- → parágrafo formatado em azul --&gt;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&lt;/body&gt;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&lt;/html&gt;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444752"/>
            <a:ext cx="544068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444752"/>
            <a:ext cx="54406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estilo.css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73936"/>
            <a:ext cx="5184648" cy="3291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/* nomedoarquivo.css - Arquivo Separado */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p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color: blue;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/* Regras globais adicionais */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body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background-color: #FFFFFF;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font-family: Arial, sans-serif;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30368"/>
            <a:ext cx="11277295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528523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Atributos Essenciais da Tag &lt;link&gt;: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▪ rel='stylesheet': define que o recurso vinculado é uma folha de estilo  |  ▪ type='text/css': declara o MIME-type oficial  |  ▪ href='estilo.css': caminho do arquivo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Estilo Inline (Inline): O Atributo style e Más Práticas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Os estilos em cascata podem ser inseridos na própria tag — entretanto, esta não é uma boa prática!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09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inline.html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&lt;html&gt;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&lt;head&gt;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&lt;title&gt;Exemplo de Estilo Inline&lt;/title&gt;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&lt;/head&gt;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&lt;body&gt;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    &lt;!-- Estilo aplicado diretamente na tag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&lt;p style="color: blue;"&gt;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Este parágrafo tem fonte azul definida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   através de um estilo em cascata.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  &lt;/p&gt;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  &lt;/body&gt;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&lt;/html&gt;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43615" y="1536192"/>
            <a:ext cx="9601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Alerta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822191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Por Que é uma Má Prática?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Definição Inline: </a:t>
            </a:r>
            <a:r>
              <a:rPr sz="1400">
                <a:solidFill>
                  <a:srgbClr val="1E293B"/>
                </a:solidFill>
                <a:latin typeface="Segoe UI"/>
              </a:rPr>
              <a:t>Os estilos são especificados dentro do corpo do documento através do atributo style de cada elemento.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Entretanto, Não é Recomendado!: </a:t>
            </a:r>
            <a:r>
              <a:rPr sz="1400">
                <a:solidFill>
                  <a:srgbClr val="1E293B"/>
                </a:solidFill>
                <a:latin typeface="Segoe UI"/>
              </a:rPr>
              <a:t>Considerada uma péssima prática de engenharia de software e programação web.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Violação de Separação: </a:t>
            </a:r>
            <a:r>
              <a:rPr sz="1400">
                <a:solidFill>
                  <a:srgbClr val="1E293B"/>
                </a:solidFill>
                <a:latin typeface="Segoe UI"/>
              </a:rPr>
              <a:t>Mistura a estrutura semântica (HTML) diretamente com a apresentação visual (CSS).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Inviabilidade de Manutenção: </a:t>
            </a:r>
            <a:r>
              <a:rPr sz="1400">
                <a:solidFill>
                  <a:srgbClr val="1E293B"/>
                </a:solidFill>
                <a:latin typeface="Segoe UI"/>
              </a:rPr>
              <a:t>Alterar a cor do site exige caçar e editar centenas de tags individualmente.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Sobrescrita Indesejada: </a:t>
            </a:r>
            <a:r>
              <a:rPr sz="1400">
                <a:solidFill>
                  <a:srgbClr val="1E293B"/>
                </a:solidFill>
                <a:latin typeface="Segoe UI"/>
              </a:rPr>
              <a:t>Possui especificidade elevadíssima, bloqueando e sobrepondo regras declaradas nos arquivos externos.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Exceções Toleradas: </a:t>
            </a:r>
            <a:r>
              <a:rPr sz="1400">
                <a:solidFill>
                  <a:srgbClr val="1E293B"/>
                </a:solidFill>
                <a:latin typeface="Segoe UI"/>
              </a:rPr>
              <a:t>Usado legitimamente apenas em disparos de e-mail HTML ou via scripts dinâmicos (JavaScript).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Seletores Básicos: Seletores por Tag (Tipo)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É o tipo mais simples de seletor, o qual utiliza o nome das próprias tags XHTML presentes no documento.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seletores_tags.css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50">
                <a:solidFill>
                  <a:srgbClr val="94A3B8"/>
                </a:solidFill>
                <a:latin typeface="Consolas"/>
              </a:rPr>
              <a:t>/* Seletores Baseados em Tags XHTML/HTML */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FDE047"/>
                </a:solidFill>
                <a:latin typeface="Consolas"/>
              </a:rPr>
              <a:t>body   { color: black; }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FDE047"/>
                </a:solidFill>
                <a:latin typeface="Consolas"/>
              </a:rPr>
              <a:t>h1     { color: purple; }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FDE047"/>
                </a:solidFill>
                <a:latin typeface="Consolas"/>
              </a:rPr>
              <a:t>h3     { color: gray; }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FDE047"/>
                </a:solidFill>
                <a:latin typeface="Consolas"/>
              </a:rPr>
              <a:t>strong { color: red; }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FDE047"/>
                </a:solidFill>
                <a:latin typeface="Consolas"/>
              </a:rPr>
              <a:t>em     { color: maroon; }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94A3B8"/>
                </a:solidFill>
                <a:latin typeface="Consolas"/>
              </a:rPr>
              <a:t>/* Cada tag HTML no documento receberá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F1F5F9"/>
                </a:solidFill>
                <a:latin typeface="Consolas"/>
              </a:rPr>
              <a:t>   a sua respectiva cor de forma global */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43615" y="1536192"/>
            <a:ext cx="9601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822191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Características do Seletor por 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TAGS XHTML: </a:t>
            </a:r>
            <a:r>
              <a:rPr sz="1400">
                <a:solidFill>
                  <a:srgbClr val="1E293B"/>
                </a:solidFill>
                <a:latin typeface="Segoe UI"/>
              </a:rPr>
              <a:t>É o tipo mais simples de seletor, o qual utiliza o nome das próprias tags XHTML presentes no documento.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Alcance Universal na Página: </a:t>
            </a:r>
            <a:r>
              <a:rPr sz="1400">
                <a:solidFill>
                  <a:srgbClr val="1E293B"/>
                </a:solidFill>
                <a:latin typeface="Segoe UI"/>
              </a:rPr>
              <a:t>Toda e qualquer ocorrência da tag no documento assumirá automaticamente a formatação especificada.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Padronização de Leitura: </a:t>
            </a:r>
            <a:r>
              <a:rPr sz="1400">
                <a:solidFill>
                  <a:srgbClr val="1E293B"/>
                </a:solidFill>
                <a:latin typeface="Segoe UI"/>
              </a:rPr>
              <a:t>Ideal para definir as regras tipográficas base da aplicação (estilos de texto padrão do body).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Baixa Especificidade: </a:t>
            </a:r>
            <a:r>
              <a:rPr sz="1400">
                <a:solidFill>
                  <a:srgbClr val="1E293B"/>
                </a:solidFill>
                <a:latin typeface="Segoe UI"/>
              </a:rPr>
              <a:t>Possui peso 1 no cálculo de especificidade (0,0,1), permitindo sobrescrita fácil através de classes.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Cuidado com a Generalização: </a:t>
            </a:r>
            <a:r>
              <a:rPr sz="1400">
                <a:solidFill>
                  <a:srgbClr val="1E293B"/>
                </a:solidFill>
                <a:latin typeface="Segoe UI"/>
              </a:rPr>
              <a:t>Evite associar comportamentos de layout complexos diretamente em tags genéricas sem o uso de classes.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Agrupamento de Seletores e Seletores por Classe (.class)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Otimização de código com agrupamento por vírgula e criação de estilos independentes com classes.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11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6592" y="1536192"/>
            <a:ext cx="103327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DRY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99592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Agrupamento de Seletores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Regra de Agrupamento: </a:t>
            </a:r>
            <a:r>
              <a:rPr sz="1400">
                <a:solidFill>
                  <a:srgbClr val="1E293B"/>
                </a:solidFill>
                <a:latin typeface="Segoe UI"/>
              </a:rPr>
              <a:t>Seletores que utilizam à mesma formatação podem ser agrupados utilizando vírgulas.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Redundância Original: </a:t>
            </a:r>
            <a:r>
              <a:rPr sz="1400">
                <a:solidFill>
                  <a:srgbClr val="1E293B"/>
                </a:solidFill>
                <a:latin typeface="Segoe UI"/>
              </a:rPr>
              <a:t>h1 { color: blue; }  h2 { color: blue; }  h3 { color: blue; }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Sintaxe Agrupada: </a:t>
            </a:r>
            <a:r>
              <a:rPr sz="1400">
                <a:solidFill>
                  <a:srgbClr val="1E293B"/>
                </a:solidFill>
                <a:latin typeface="Segoe UI"/>
              </a:rPr>
              <a:t>h1, h2, h3 { color: blue; }  (ou h1,h2,h3{ color:blue; })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Princípio DRY: </a:t>
            </a:r>
            <a:r>
              <a:rPr sz="1400">
                <a:solidFill>
                  <a:srgbClr val="1E293B"/>
                </a:solidFill>
                <a:latin typeface="Segoe UI"/>
              </a:rPr>
              <a:t>Elimina duplicações de código, reduz o tamanho do arquivo e acelera a renderização.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Manutenção Simplificada: </a:t>
            </a:r>
            <a:r>
              <a:rPr sz="1400">
                <a:solidFill>
                  <a:srgbClr val="1E293B"/>
                </a:solidFill>
                <a:latin typeface="Segoe UI"/>
              </a:rPr>
              <a:t>Alterar a cor ou fonte dos títulos passa a ser feito em apenas uma linha.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81844" y="1536192"/>
            <a:ext cx="142189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Independência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60730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Seletores por Classe (CLASS)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Associação Independente: </a:t>
            </a:r>
            <a:r>
              <a:rPr sz="1400">
                <a:solidFill>
                  <a:srgbClr val="1E293B"/>
                </a:solidFill>
                <a:latin typeface="Segoe UI"/>
              </a:rPr>
              <a:t>Os seletores do tipo CLASS permitem associar estilos de formatação aos elementos do documento de maneira independente.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Superando Limitações de Tag: </a:t>
            </a:r>
            <a:r>
              <a:rPr sz="1400">
                <a:solidFill>
                  <a:srgbClr val="1E293B"/>
                </a:solidFill>
                <a:latin typeface="Segoe UI"/>
              </a:rPr>
              <a:t>Ao invés de especificar uma formatação para todos os parágrafos &lt;p&gt; do documento, podemos definir estilos individuais.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Prefixo Ponto (.): </a:t>
            </a:r>
            <a:r>
              <a:rPr sz="1400">
                <a:solidFill>
                  <a:srgbClr val="1E293B"/>
                </a:solidFill>
                <a:latin typeface="Segoe UI"/>
              </a:rPr>
              <a:t>Na folha de estilo, a classe é sempre declarada antecedida por um ponto (ex: .formato1).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Atributo class no HTML: </a:t>
            </a:r>
            <a:r>
              <a:rPr sz="1400">
                <a:solidFill>
                  <a:srgbClr val="1E293B"/>
                </a:solidFill>
                <a:latin typeface="Segoe UI"/>
              </a:rPr>
              <a:t>Vincula-se ao elemento através de: &lt;p class='formato1'&gt;.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Reusabilidade Modular: </a:t>
            </a:r>
            <a:r>
              <a:rPr sz="1400">
                <a:solidFill>
                  <a:srgbClr val="1E293B"/>
                </a:solidFill>
                <a:latin typeface="Segoe UI"/>
              </a:rPr>
              <a:t>Múltiplos elementos distintos (h1, p, div) podem compartilhar a mesma classe.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Seletores de Classe na Prática: Aplicação em Elementos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Exemplo completo de definição de classes no CSS e sua respectiva vinculação no documento HTML.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12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classes.html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&lt;html&gt;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&lt;head&gt;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&lt;title&gt;Exemplo com Classes&lt;/title&gt;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&lt;style type="text/css"&gt;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  .formato1 { color: blue;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  .formato2 { color: red;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&lt;/style&gt;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&lt;/head&gt;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&lt;body&gt;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    &lt;!-- Compartilhando a classe formato1 --&gt;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&lt;h1 class="formato1"&gt;Título do Site&lt;/h1&gt;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&lt;p class="formato1"&gt;Exemplo de parágrafo&lt;/p&gt;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    &lt;!-- Utilizando a classe formato2 --&gt;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&lt;p class="formato2"&gt;Exemplo de parágrafo&lt;/p&gt;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&lt;/body&gt;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&lt;/html&gt;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59567" y="1536192"/>
            <a:ext cx="1344168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Modularidade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4381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Análise Técnica do Exemplo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Criação de Classes no CSS: </a:t>
            </a:r>
            <a:r>
              <a:rPr sz="1400">
                <a:solidFill>
                  <a:srgbClr val="1E293B"/>
                </a:solidFill>
                <a:latin typeface="Segoe UI"/>
              </a:rPr>
              <a:t>Declaração de .formato1 (cor azul) e .formato2 (cor vermelha) no bloco de estilo.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Aplicação em Múltiplas Tags: </a:t>
            </a:r>
            <a:r>
              <a:rPr sz="1400">
                <a:solidFill>
                  <a:srgbClr val="1E293B"/>
                </a:solidFill>
                <a:latin typeface="Segoe UI"/>
              </a:rPr>
              <a:t>A classe .formato1 é aplicada tanto no título &lt;h1&gt; quanto no primeiro parágrafo &lt;p&gt;.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Diferenciação Estilística: </a:t>
            </a:r>
            <a:r>
              <a:rPr sz="1400">
                <a:solidFill>
                  <a:srgbClr val="1E293B"/>
                </a:solidFill>
                <a:latin typeface="Segoe UI"/>
              </a:rPr>
              <a:t>O segundo parágrafo recebe class='formato2', exibindo o texto em vermelho de forma independente.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Independência de Estrutura: </a:t>
            </a:r>
            <a:r>
              <a:rPr sz="1400">
                <a:solidFill>
                  <a:srgbClr val="1E293B"/>
                </a:solidFill>
                <a:latin typeface="Segoe UI"/>
              </a:rPr>
              <a:t>O estilo pertence à classe e não à tag, permitindo reorganizar o HTML livremente.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Poder de Escalabilidade: </a:t>
            </a:r>
            <a:r>
              <a:rPr sz="1400">
                <a:solidFill>
                  <a:srgbClr val="1E293B"/>
                </a:solidFill>
                <a:latin typeface="Segoe UI"/>
              </a:rPr>
              <a:t>O uso de classes é a fundação para todas as metodologias modernas de CSS (como BEM e OOCSS).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Formatação de Plano de Fundo: Propriedades background-*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Através da propriedade background é possível especificar as características do plano de fundo dos elementos.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13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11277295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17759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967709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Conjunto de Propriedades de Plano de Fundo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975104"/>
          <a:ext cx="11002975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474720"/>
                <a:gridCol w="2926080"/>
                <a:gridCol w="2407615"/>
              </a:tblGrid>
              <a:tr h="662939">
                <a:tc>
                  <a:txBody>
                    <a:bodyPr wrap="square"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Propriedade CSS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Função e Comportamento Visual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Parâmetros e Opções Válidas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Exemplo de Sintaxe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662939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Configura a cor sólida do plano de fundo do elemento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Cores hexadecimais (#FFF), nomes (red) ou rgb()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background-color: #CCCCCC;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Background-image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Especifica a imagem gráfica a ser exibida no fundo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Caminho do arquivo de imagem envolvido em url()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background-image: url('fundo.jpg');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Background-repeat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Determina a repetição da imagem na janela do navegador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repeat (ambos eixos), repeat-x, repeat-y, no-repeat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background-repeat: no-repeat;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Background-attachment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Configura o comportamento de rolamento da imagem na tela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scroll (rola com a página) ou fixed (imagem estática)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background-attachment: fixed;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Define a posição (local) onde a imagem deverá ser posicionada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Coordenadas X, Y (px, porcentagem, left, center, top)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background-position: center top;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Unidades de Medida em CSS: Absolutas vs Relativas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A especificação de tamanhos e distâncias no CSS divide-se entre valores absolutos e referências relativas.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14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7972" y="1536192"/>
            <a:ext cx="142189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Medidas Fixas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60730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Unidades de Medida Absolutas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px – pixels: </a:t>
            </a:r>
            <a:r>
              <a:rPr sz="1380">
                <a:solidFill>
                  <a:srgbClr val="1E293B"/>
                </a:solidFill>
                <a:latin typeface="Segoe UI"/>
              </a:rPr>
              <a:t>Unidade mais confiável e padrão na web; baseada diretamente no tamanho da tela do usuário.</a:t>
            </a:r>
          </a:p>
          <a:p>
            <a:pPr>
              <a:spcAft>
                <a:spcPts val="6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pt – pontos: </a:t>
            </a:r>
            <a:r>
              <a:rPr sz="1380">
                <a:solidFill>
                  <a:srgbClr val="1E293B"/>
                </a:solidFill>
                <a:latin typeface="Segoe UI"/>
              </a:rPr>
              <a:t>Medida tipográfica tradicional; sendo que 1pt representa 1/72 polegadas.</a:t>
            </a:r>
          </a:p>
          <a:p>
            <a:pPr>
              <a:spcAft>
                <a:spcPts val="6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in – polegadas: </a:t>
            </a:r>
            <a:r>
              <a:rPr sz="1380">
                <a:solidFill>
                  <a:srgbClr val="1E293B"/>
                </a:solidFill>
                <a:latin typeface="Segoe UI"/>
              </a:rPr>
              <a:t>Medida física internacional; 1 polegada equivale a 2,54 centímetros ou 96 pixels.</a:t>
            </a:r>
          </a:p>
          <a:p>
            <a:pPr>
              <a:spcAft>
                <a:spcPts val="6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cm – centímetros: </a:t>
            </a:r>
            <a:r>
              <a:rPr sz="1380">
                <a:solidFill>
                  <a:srgbClr val="1E293B"/>
                </a:solidFill>
                <a:latin typeface="Segoe UI"/>
              </a:rPr>
              <a:t>Medida métrica decimal internacional (1cm = 10 milímetros = ~37.8 pixels).</a:t>
            </a:r>
          </a:p>
          <a:p>
            <a:pPr>
              <a:spcAft>
                <a:spcPts val="6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mm – milímetros: </a:t>
            </a:r>
            <a:r>
              <a:rPr sz="1380">
                <a:solidFill>
                  <a:srgbClr val="1E293B"/>
                </a:solidFill>
                <a:latin typeface="Segoe UI"/>
              </a:rPr>
              <a:t>Subdivisão métrica decimal precisa, utilizada sobretudo em folhas de impressão (print).</a:t>
            </a:r>
          </a:p>
          <a:p>
            <a:pPr>
              <a:spcAft>
                <a:spcPts val="6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Aplicação Ideal: </a:t>
            </a:r>
            <a:r>
              <a:rPr sz="1380">
                <a:solidFill>
                  <a:srgbClr val="1E293B"/>
                </a:solidFill>
                <a:latin typeface="Segoe UI"/>
              </a:rPr>
              <a:t>Utilize unidades absolutas para bordas finas, linhas de detalhe e elementos invariáveis.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26396" y="1536192"/>
            <a:ext cx="157734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Escala Elástica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4518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Unidades de Medida Relativas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em: </a:t>
            </a:r>
            <a:r>
              <a:rPr sz="1380">
                <a:solidFill>
                  <a:srgbClr val="1E293B"/>
                </a:solidFill>
                <a:latin typeface="Segoe UI"/>
              </a:rPr>
              <a:t>1em é igual ao tamanho padrão do tipo de letra que está sendo utilizado no elemento pai.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ex: </a:t>
            </a:r>
            <a:r>
              <a:rPr sz="1380">
                <a:solidFill>
                  <a:srgbClr val="1E293B"/>
                </a:solidFill>
                <a:latin typeface="Segoe UI"/>
              </a:rPr>
              <a:t>1ex é igual à altura da letra minúscula 'x' no tipo de letra que está sendo utilizado.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% - porcentagem: </a:t>
            </a:r>
            <a:r>
              <a:rPr sz="1380">
                <a:solidFill>
                  <a:srgbClr val="1E293B"/>
                </a:solidFill>
                <a:latin typeface="Segoe UI"/>
              </a:rPr>
              <a:t>Calculada em proporção direta em relação à dimensão do elemento pai ou container delimitador.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Responsividade: </a:t>
            </a:r>
            <a:r>
              <a:rPr sz="1380">
                <a:solidFill>
                  <a:srgbClr val="1E293B"/>
                </a:solidFill>
                <a:latin typeface="Segoe UI"/>
              </a:rPr>
              <a:t>Unidades relativas adaptam-se com perfeição ao redimensionamento de janela e preferências de zoom do usuário.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F172A"/>
                </a:solidFill>
                <a:latin typeface="Segoe UI"/>
              </a:rPr>
              <a:t>▪ Acessibilidade: </a:t>
            </a:r>
            <a:r>
              <a:rPr sz="1380">
                <a:solidFill>
                  <a:srgbClr val="1E293B"/>
                </a:solidFill>
                <a:latin typeface="Segoe UI"/>
              </a:rPr>
              <a:t>Garante que o texto aumente ou diminua fluidamente quando o usuário altera o tamanho de fonte no navegador.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Tipografia em CSS: Propriedades de Fonte (font-*)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Aspectos relacionados aos estilos das letras são definidos através das propriedades do tipo de letra.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11277295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17759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Tipografia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967709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Catálogo de Propriedades Tipográficas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975104"/>
          <a:ext cx="11002975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3108960"/>
                <a:gridCol w="2407615"/>
              </a:tblGrid>
              <a:tr h="662939">
                <a:tc>
                  <a:txBody>
                    <a:bodyPr wrap="square"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Propriedade CSS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Descrição e Finalidade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Opções e Parâmetros Válidos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Exemplo de Aplicação Prática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662939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Font-family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Define qual o tipo de fonte utilizado na formatação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Nomes de fontes (Arial, Segoe UI, Georgia) e genéricas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Ex: font-family: Arial;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font-size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Tamanho da fonte com base na unidade escolhida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Pixels (px), pontos (pt), em, rem ou porcentagem (%)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Ex: font-size: 12px;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font-style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Estilo do tipo de letra e inclinação estética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Opções: normal, italic e oblique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Ex: font-style: italic; /* texto itálico */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font-variant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Escreve o texto utilizando letra capitalizada (small-cap)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Opções: normal e small-caps (versalete)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Ex: font-variant: small-caps;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 wrap="square" lIns="73152" r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font-weight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Espessura dos traços que desenham as letras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Opções: normal, bold, bolder, lighter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Ex: font-weight: bold; /* texto negrito */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Formatação de Texto I: Espaçamento, Alinhamento e Efeitos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Propriedades essenciais para configuração de cor, espaçamento entre palavras e efeitos de linha.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16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3420" y="1536192"/>
            <a:ext cx="126644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Alinhamento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7627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Cor e Alinhamento de 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color: </a:t>
            </a:r>
            <a:r>
              <a:rPr sz="1400">
                <a:solidFill>
                  <a:srgbClr val="1E293B"/>
                </a:solidFill>
                <a:latin typeface="Segoe UI"/>
              </a:rPr>
              <a:t>Especifica a cor da letra e dos caracteres do texto (ex: color: #1E293B;).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text-align: </a:t>
            </a:r>
            <a:r>
              <a:rPr sz="1400">
                <a:solidFill>
                  <a:srgbClr val="1E293B"/>
                </a:solidFill>
                <a:latin typeface="Segoe UI"/>
              </a:rPr>
              <a:t>Alinhamento do texto no bloco.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left (Esquerda): </a:t>
            </a:r>
            <a:r>
              <a:rPr sz="1400">
                <a:solidFill>
                  <a:srgbClr val="1E293B"/>
                </a:solidFill>
                <a:latin typeface="Segoe UI"/>
              </a:rPr>
              <a:t>Alinha todas as frases à esquerda (padrão de leitura ocidental).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right (Direita): </a:t>
            </a:r>
            <a:r>
              <a:rPr sz="1400">
                <a:solidFill>
                  <a:srgbClr val="1E293B"/>
                </a:solidFill>
                <a:latin typeface="Segoe UI"/>
              </a:rPr>
              <a:t>Alinha o texto rente à borda direita do container.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center (Centralizado): </a:t>
            </a:r>
            <a:r>
              <a:rPr sz="1400">
                <a:solidFill>
                  <a:srgbClr val="1E293B"/>
                </a:solidFill>
                <a:latin typeface="Segoe UI"/>
              </a:rPr>
              <a:t>Distribui o texto centralizado em relação à largura útil.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justify (Justificado): </a:t>
            </a:r>
            <a:r>
              <a:rPr sz="1400">
                <a:solidFill>
                  <a:srgbClr val="1E293B"/>
                </a:solidFill>
                <a:latin typeface="Segoe UI"/>
              </a:rPr>
              <a:t>Alinha simultaneamente à esquerda e direita ajustando espaçamentos internos.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92740" y="1536192"/>
            <a:ext cx="111099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Decoração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91820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Espaçamentos e Decorações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Letter-spacing: </a:t>
            </a:r>
            <a:r>
              <a:rPr sz="1400">
                <a:solidFill>
                  <a:srgbClr val="1E293B"/>
                </a:solidFill>
                <a:latin typeface="Segoe UI"/>
              </a:rPr>
              <a:t>Espaço entre os caracteres do texto (Ex: letter-spacing: 2px;).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Word-spacing: </a:t>
            </a:r>
            <a:r>
              <a:rPr sz="1400">
                <a:solidFill>
                  <a:srgbClr val="1E293B"/>
                </a:solidFill>
                <a:latin typeface="Segoe UI"/>
              </a:rPr>
              <a:t>Espaço entre as palavras do texto (Ex: word-spacing: 2px;).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text-decoration: </a:t>
            </a:r>
            <a:r>
              <a:rPr sz="1400">
                <a:solidFill>
                  <a:srgbClr val="1E293B"/>
                </a:solidFill>
                <a:latin typeface="Segoe UI"/>
              </a:rPr>
              <a:t>Adiciona efeitos decorativos no texto.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underline: </a:t>
            </a:r>
            <a:r>
              <a:rPr sz="1400">
                <a:solidFill>
                  <a:srgbClr val="1E293B"/>
                </a:solidFill>
                <a:latin typeface="Segoe UI"/>
              </a:rPr>
              <a:t>Adiciona linha sublinhada sob as palavras do texto.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overline: </a:t>
            </a:r>
            <a:r>
              <a:rPr sz="1400">
                <a:solidFill>
                  <a:srgbClr val="1E293B"/>
                </a:solidFill>
                <a:latin typeface="Segoe UI"/>
              </a:rPr>
              <a:t>Desenha uma linha superior imediatamente acima dos caracteres.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line-through: </a:t>
            </a:r>
            <a:r>
              <a:rPr sz="1400">
                <a:solidFill>
                  <a:srgbClr val="1E293B"/>
                </a:solidFill>
                <a:latin typeface="Segoe UI"/>
              </a:rPr>
              <a:t>Efeito tachado (linha no centro, indicando cancelamento).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blink: </a:t>
            </a:r>
            <a:r>
              <a:rPr sz="1400">
                <a:solidFill>
                  <a:srgbClr val="1E293B"/>
                </a:solidFill>
                <a:latin typeface="Segoe UI"/>
              </a:rPr>
              <a:t>Efeito piscante decorativo.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Formatação de Texto II: Indentação, Caixa e Fluxo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Recuos de parágrafo, transformações de maiúsculas/minúsculas e gestão de quebras em branco.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17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81144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Tipografia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Indentação e Transformação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text-indent: </a:t>
            </a:r>
            <a:r>
              <a:rPr sz="1400">
                <a:solidFill>
                  <a:srgbClr val="1E293B"/>
                </a:solidFill>
                <a:latin typeface="Segoe UI"/>
              </a:rPr>
              <a:t>Desloca para direita ou esquerda a primeira letra da primeira linha do texto (Ex: text-indent: 20px;).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text-transform: </a:t>
            </a:r>
            <a:r>
              <a:rPr sz="1400">
                <a:solidFill>
                  <a:srgbClr val="1E293B"/>
                </a:solidFill>
                <a:latin typeface="Segoe UI"/>
              </a:rPr>
              <a:t>Formatações específicas a uma determinada letra do documento.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capitalize: </a:t>
            </a:r>
            <a:r>
              <a:rPr sz="1400">
                <a:solidFill>
                  <a:srgbClr val="1E293B"/>
                </a:solidFill>
                <a:latin typeface="Segoe UI"/>
              </a:rPr>
              <a:t>Transforma em maiúscula a primeira letra de cada palavra.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uppercase: </a:t>
            </a:r>
            <a:r>
              <a:rPr sz="1400">
                <a:solidFill>
                  <a:srgbClr val="1E293B"/>
                </a:solidFill>
                <a:latin typeface="Segoe UI"/>
              </a:rPr>
              <a:t>Converte todas as letras do texto integralmente para MAIÚSCULAS.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lowercase: </a:t>
            </a:r>
            <a:r>
              <a:rPr sz="1400">
                <a:solidFill>
                  <a:srgbClr val="1E293B"/>
                </a:solidFill>
                <a:latin typeface="Segoe UI"/>
              </a:rPr>
              <a:t>Converte todas as letras do texto integralmente para minúsculas.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Vantagem Semântica: </a:t>
            </a:r>
            <a:r>
              <a:rPr sz="1400">
                <a:solidFill>
                  <a:srgbClr val="1E293B"/>
                </a:solidFill>
                <a:latin typeface="Segoe UI"/>
              </a:rPr>
              <a:t>O HTML mantém a grafia natural enquanto o CSS controla o impacto visual em títulos.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43615" y="1536192"/>
            <a:ext cx="9601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Fluxo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Direção e Espaços em Branco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direction: </a:t>
            </a:r>
            <a:r>
              <a:rPr sz="1400">
                <a:solidFill>
                  <a:srgbClr val="1E293B"/>
                </a:solidFill>
                <a:latin typeface="Segoe UI"/>
              </a:rPr>
              <a:t>Direção de escrita do texto no documento.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ltr – left to right: </a:t>
            </a:r>
            <a:r>
              <a:rPr sz="1400">
                <a:solidFill>
                  <a:srgbClr val="1E293B"/>
                </a:solidFill>
                <a:latin typeface="Segoe UI"/>
              </a:rPr>
              <a:t>Da esquerda para a direita (padrão ocidental).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rtl – right to left: </a:t>
            </a:r>
            <a:r>
              <a:rPr sz="1400">
                <a:solidFill>
                  <a:srgbClr val="1E293B"/>
                </a:solidFill>
                <a:latin typeface="Segoe UI"/>
              </a:rPr>
              <a:t>Da direita para a esquerda (árabe, hebraico).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white-space: </a:t>
            </a:r>
            <a:r>
              <a:rPr sz="1400">
                <a:solidFill>
                  <a:srgbClr val="1E293B"/>
                </a:solidFill>
                <a:latin typeface="Segoe UI"/>
              </a:rPr>
              <a:t>Propriedade relativa ao tratamento dos espaços em branco das frases.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pre: </a:t>
            </a:r>
            <a:r>
              <a:rPr sz="1400">
                <a:solidFill>
                  <a:srgbClr val="1E293B"/>
                </a:solidFill>
                <a:latin typeface="Segoe UI"/>
              </a:rPr>
              <a:t>Preserva todos os espaços em branco e quebras de linha exatamente como digitados.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nowrap: </a:t>
            </a:r>
            <a:r>
              <a:rPr sz="1400">
                <a:solidFill>
                  <a:srgbClr val="1E293B"/>
                </a:solidFill>
                <a:latin typeface="Segoe UI"/>
              </a:rPr>
              <a:t>Impede que o texto quebre automaticamente de linha, mantendo-o contínuo até encontrar &lt;br&gt;.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Margens em CSS: O Espaçamento Externo (margin-*)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Determinam um espaço em branco entre os elementos da página, delimitando a distância externa entre caixas.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18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58868" y="1536192"/>
            <a:ext cx="111099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Box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91820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Conceito de Margem Externa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Espaço Entre Elementos: </a:t>
            </a:r>
            <a:r>
              <a:rPr sz="1450">
                <a:solidFill>
                  <a:srgbClr val="1E293B"/>
                </a:solidFill>
                <a:latin typeface="Segoe UI"/>
              </a:rPr>
              <a:t>Determinam um espaço em branco entre os elementos da página.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Camada Mais Externa: </a:t>
            </a:r>
            <a:r>
              <a:rPr sz="1450">
                <a:solidFill>
                  <a:srgbClr val="1E293B"/>
                </a:solidFill>
                <a:latin typeface="Segoe UI"/>
              </a:rPr>
              <a:t>No CSS Box Model, a margem envolve a borda, criando a área de afastamento físico entre caixas.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Área Transparente: </a:t>
            </a:r>
            <a:r>
              <a:rPr sz="1450">
                <a:solidFill>
                  <a:srgbClr val="1E293B"/>
                </a:solidFill>
                <a:latin typeface="Segoe UI"/>
              </a:rPr>
              <a:t>A margem não possui cor própria; ela é totalmente transparente, revelando o fundo do container pai.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Colapso de Margens: </a:t>
            </a:r>
            <a:r>
              <a:rPr sz="1450">
                <a:solidFill>
                  <a:srgbClr val="1E293B"/>
                </a:solidFill>
                <a:latin typeface="Segoe UI"/>
              </a:rPr>
              <a:t>Margens verticais (top/bottom) de elementos irmãos vizinhos colapsam na maior margem entre eles.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Centralização Automática: </a:t>
            </a:r>
            <a:r>
              <a:rPr sz="1450">
                <a:solidFill>
                  <a:srgbClr val="1E293B"/>
                </a:solidFill>
                <a:latin typeface="Segoe UI"/>
              </a:rPr>
              <a:t>margin: 0 auto; é o padrão universal para centralizar blocos com largura definida na tela.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15015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Parâmetros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Os Quatro Parâmetros de Margem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Quatro Parâmetros Podem Ser Definidos: </a:t>
            </a:r>
            <a:r>
              <a:rPr sz="1450">
                <a:solidFill>
                  <a:srgbClr val="1E293B"/>
                </a:solidFill>
                <a:latin typeface="Segoe UI"/>
              </a:rPr>
              <a:t>Quatro parâmetros de controle de margem podem ser configurados: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Left – margem esquerda: </a:t>
            </a:r>
            <a:r>
              <a:rPr sz="1450">
                <a:solidFill>
                  <a:srgbClr val="1E293B"/>
                </a:solidFill>
                <a:latin typeface="Segoe UI"/>
              </a:rPr>
              <a:t>Determina a distância entre o elemento e seu limite ou vizinho à esquerda.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Rigth – margem direita: </a:t>
            </a:r>
            <a:r>
              <a:rPr sz="1450">
                <a:solidFill>
                  <a:srgbClr val="1E293B"/>
                </a:solidFill>
                <a:latin typeface="Segoe UI"/>
              </a:rPr>
              <a:t>Determina a distância entre o elemento e seu limite ou vizinho à direita.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Top – margem superior: </a:t>
            </a:r>
            <a:r>
              <a:rPr sz="1450">
                <a:solidFill>
                  <a:srgbClr val="1E293B"/>
                </a:solidFill>
                <a:latin typeface="Segoe UI"/>
              </a:rPr>
              <a:t>Determina o afastamento do elemento em relação ao componente acima dele.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Bottom – margem inferior: </a:t>
            </a:r>
            <a:r>
              <a:rPr sz="1450">
                <a:solidFill>
                  <a:srgbClr val="1E293B"/>
                </a:solidFill>
                <a:latin typeface="Segoe UI"/>
              </a:rPr>
              <a:t>Determina o afastamento do elemento em relação ao componente abaixo dele.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Unidades Suportadas: </a:t>
            </a:r>
            <a:r>
              <a:rPr sz="1450">
                <a:solidFill>
                  <a:srgbClr val="1E293B"/>
                </a:solidFill>
                <a:latin typeface="Segoe UI"/>
              </a:rPr>
              <a:t>Pixels (px), porcentagem (%), em ou a palavra-chave auto.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Margens na Prática: Declaração Individual e Shorthand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Comparação entre declarações individuais por lado e a sintaxe compacta em sentido horário.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19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exemplo_margens.html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&lt;style type="text/css"&gt;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p { text-align: justify;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.meuparagrafo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background-color: #CCCCCC;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margin-left: 100px;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margin-right: 100px;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margin-top: 50px;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margin-bottom: 50px;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    /* Declaração Shorthand (Horário): */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margin: 50px 100px 50px 100px;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&lt;/style&gt;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&lt;body&gt;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&lt;p class="meuparagrafo"&gt;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  Lorem Ipsum has been the industry's standard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  dummy text ever since the 1500s...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&lt;/p&gt;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&lt;/body&gt;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43615" y="1536192"/>
            <a:ext cx="9601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Sintaxe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822191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Regra do Relógio Shorthand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Sentido Horário (Clockwise): </a:t>
            </a:r>
            <a:r>
              <a:rPr sz="1400">
                <a:solidFill>
                  <a:srgbClr val="1E293B"/>
                </a:solidFill>
                <a:latin typeface="Segoe UI"/>
              </a:rPr>
              <a:t>A regra shorthand do CSS segue rigorosamente a rotação do relógio: TOP → RIGHT → BOTTOM → LEFT.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4 Valores (50px 100px 50px 100px): </a:t>
            </a:r>
            <a:r>
              <a:rPr sz="1400">
                <a:solidFill>
                  <a:srgbClr val="1E293B"/>
                </a:solidFill>
                <a:latin typeface="Segoe UI"/>
              </a:rPr>
              <a:t>1º Top (50px) | 2º Right (100px) | 3º Bottom (50px) | 4º Left (100px).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Sintaxe com 2 Valores: </a:t>
            </a:r>
            <a:r>
              <a:rPr sz="1400">
                <a:solidFill>
                  <a:srgbClr val="1E293B"/>
                </a:solidFill>
                <a:latin typeface="Segoe UI"/>
              </a:rPr>
              <a:t>margin: 50px 100px; → 50px para vertical (top/bottom) e 100px para horizontal (left/right).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Sintaxe com 1 Valor: </a:t>
            </a:r>
            <a:r>
              <a:rPr sz="1400">
                <a:solidFill>
                  <a:srgbClr val="1E293B"/>
                </a:solidFill>
                <a:latin typeface="Segoe UI"/>
              </a:rPr>
              <a:t>margin: 50px; → aplica 50px idênticos em todos os quatro lados simultaneamente.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Impacto no Desempenho: </a:t>
            </a:r>
            <a:r>
              <a:rPr sz="1400">
                <a:solidFill>
                  <a:srgbClr val="1E293B"/>
                </a:solidFill>
                <a:latin typeface="Segoe UI"/>
              </a:rPr>
              <a:t>Condensa 4 instruções em apenas uma linha, tornando a folha de estilos mais limpa e legível.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Bordas em CSS: Estrutura, Lados e Propriedades (border-*)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São propriedades que definem os estilos das bordas dos elementos contidos nos documentos.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09744" y="1536192"/>
            <a:ext cx="9601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 Lados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Os Quatro Lados da Borda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Formatação por Elemento: </a:t>
            </a:r>
            <a:r>
              <a:rPr sz="1450">
                <a:solidFill>
                  <a:srgbClr val="1E293B"/>
                </a:solidFill>
                <a:latin typeface="Segoe UI"/>
              </a:rPr>
              <a:t>Para cada elemento, as quatro bordas podem ser formatadas: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border-left: </a:t>
            </a:r>
            <a:r>
              <a:rPr sz="1450">
                <a:solidFill>
                  <a:srgbClr val="1E293B"/>
                </a:solidFill>
                <a:latin typeface="Segoe UI"/>
              </a:rPr>
              <a:t>Controla a borda do limite lateral esquerdo do elemento.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border-right: </a:t>
            </a:r>
            <a:r>
              <a:rPr sz="1450">
                <a:solidFill>
                  <a:srgbClr val="1E293B"/>
                </a:solidFill>
                <a:latin typeface="Segoe UI"/>
              </a:rPr>
              <a:t>Controla a borda do limite lateral direito do elemento.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border-top: </a:t>
            </a:r>
            <a:r>
              <a:rPr sz="1450">
                <a:solidFill>
                  <a:srgbClr val="1E293B"/>
                </a:solidFill>
                <a:latin typeface="Segoe UI"/>
              </a:rPr>
              <a:t>Controla a borda do limite superior do elemento.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border-bottom: </a:t>
            </a:r>
            <a:r>
              <a:rPr sz="1450">
                <a:solidFill>
                  <a:srgbClr val="1E293B"/>
                </a:solidFill>
                <a:latin typeface="Segoe UI"/>
              </a:rPr>
              <a:t>Controla a borda do limite inferior do elemento.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Estilização Independente: </a:t>
            </a:r>
            <a:r>
              <a:rPr sz="1450">
                <a:solidFill>
                  <a:srgbClr val="1E293B"/>
                </a:solidFill>
                <a:latin typeface="Segoe UI"/>
              </a:rPr>
              <a:t>É possível ter um lado sólido, outro tracejado e os demais sem borda alguma.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59567" y="1536192"/>
            <a:ext cx="1344168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Propriedades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68503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As Três Propriedades Essenciais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Três Propriedades por Borda: </a:t>
            </a:r>
            <a:r>
              <a:rPr sz="1450">
                <a:solidFill>
                  <a:srgbClr val="1E293B"/>
                </a:solidFill>
                <a:latin typeface="Segoe UI"/>
              </a:rPr>
              <a:t>Para cada borda, três propriedades podem ser definidas: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color: cor da borda: </a:t>
            </a:r>
            <a:r>
              <a:rPr sz="1450">
                <a:solidFill>
                  <a:srgbClr val="1E293B"/>
                </a:solidFill>
                <a:latin typeface="Segoe UI"/>
              </a:rPr>
              <a:t>Especifica a tonalidade cromática (ex: border-color: #FF0000; ou nomes).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style: estilo da borda: </a:t>
            </a:r>
            <a:r>
              <a:rPr sz="1450">
                <a:solidFill>
                  <a:srgbClr val="1E293B"/>
                </a:solidFill>
                <a:latin typeface="Segoe UI"/>
              </a:rPr>
              <a:t>Determina o traçado: solid (sólida), dashed (tracejada), dotted (pontilhada), ridge (entalhada), none.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width: espessura da borda: </a:t>
            </a:r>
            <a:r>
              <a:rPr sz="1450">
                <a:solidFill>
                  <a:srgbClr val="1E293B"/>
                </a:solidFill>
                <a:latin typeface="Segoe UI"/>
              </a:rPr>
              <a:t>Configura a largura: pixels (2px) ou palavras-chave (thin, medium, thick).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Regra Fundamental de Visibilidade: </a:t>
            </a:r>
            <a:r>
              <a:rPr sz="1450">
                <a:solidFill>
                  <a:srgbClr val="1E293B"/>
                </a:solidFill>
                <a:latin typeface="Segoe UI"/>
              </a:rPr>
              <a:t>Se border-style não for especificado (ou for none), a borda jamais será exibida!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Bordas na Prática: Declaração Simplificada vs Específica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Aplicação prática de borda única uniforme versus estilizações assimétricas com múltiplos estilos.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21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4406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Exemplo 1: Borda Simplificada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1846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/* Exemplo 1: Borda vermelha nos quatro limites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/* Declaração simplificada uniforme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&lt;style type="text/css"&gt;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p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border-style: solid;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border-color: #FF0000;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&lt;/style&gt;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/* Notação Shorthand Equivalente: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p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border: 1px solid #FF0000;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444752"/>
            <a:ext cx="54406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Exemplo 2: Borda por 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73936"/>
            <a:ext cx="51846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/* Exemplo 2: Borda específica para cada lado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&lt;style type="text/css"&gt;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p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border-width: thin;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    /* Laterais: sólida e vermelha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border-left-color: #FF0000;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border-left-style: solid;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border-right-color: #FF0000;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border-right-style: solid;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    /* Topo e Base: tracejada e azul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border-top-color: #0000FF;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border-top-style: dashed;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border-bottom-color: #0000FF;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border-bottom-style: dashed;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&lt;/style&gt;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Espaçamento Interno (Padding): O Conteúdo e a Borda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Controlam o espaçamento entre a borda do elemento e seu respectivo conteúdo interno.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22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58868" y="1536192"/>
            <a:ext cx="111099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Box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91820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Conceito de Padding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Respiro Interno: </a:t>
            </a:r>
            <a:r>
              <a:rPr sz="1450">
                <a:solidFill>
                  <a:srgbClr val="1E293B"/>
                </a:solidFill>
                <a:latin typeface="Segoe UI"/>
              </a:rPr>
              <a:t>Controlam o espaçamento entre a borda do elemento e seu conteúdo.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Herança de Fundo: </a:t>
            </a:r>
            <a:r>
              <a:rPr sz="1450">
                <a:solidFill>
                  <a:srgbClr val="1E293B"/>
                </a:solidFill>
                <a:latin typeface="Segoe UI"/>
              </a:rPr>
              <a:t>A cor ou imagem de plano de fundo (background) preenche integralmente a área ocupada pelo padding.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Expansão da Caixa: </a:t>
            </a:r>
            <a:r>
              <a:rPr sz="1450">
                <a:solidFill>
                  <a:srgbClr val="1E293B"/>
                </a:solidFill>
                <a:latin typeface="Segoe UI"/>
              </a:rPr>
              <a:t>No modelo de caixa tradicional, o valor do padding soma-se à largura (width) e altura (height) da caixa.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Conforto e Legibilidade: </a:t>
            </a:r>
            <a:r>
              <a:rPr sz="1450">
                <a:solidFill>
                  <a:srgbClr val="1E293B"/>
                </a:solidFill>
                <a:latin typeface="Segoe UI"/>
              </a:rPr>
              <a:t>Evita que palavras e frases colidam com a linha de borda, garantindo leitura visualmente confortável.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43615" y="1536192"/>
            <a:ext cx="9601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Limites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Os Quatro Limites de Padding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Definição em Quatro Limites: </a:t>
            </a:r>
            <a:r>
              <a:rPr sz="1450">
                <a:solidFill>
                  <a:srgbClr val="1E293B"/>
                </a:solidFill>
                <a:latin typeface="Segoe UI"/>
              </a:rPr>
              <a:t>O espaçamento pode ser definido em função dos quatro limites do elemento: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Padding-left: </a:t>
            </a:r>
            <a:r>
              <a:rPr sz="1450">
                <a:solidFill>
                  <a:srgbClr val="1E293B"/>
                </a:solidFill>
                <a:latin typeface="Segoe UI"/>
              </a:rPr>
              <a:t>Espaçamento interno entre o conteúdo e a borda esquerda.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Padding-right: </a:t>
            </a:r>
            <a:r>
              <a:rPr sz="1450">
                <a:solidFill>
                  <a:srgbClr val="1E293B"/>
                </a:solidFill>
                <a:latin typeface="Segoe UI"/>
              </a:rPr>
              <a:t>Espaçamento interno entre o conteúdo e a borda direita.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Padding-top: </a:t>
            </a:r>
            <a:r>
              <a:rPr sz="1450">
                <a:solidFill>
                  <a:srgbClr val="1E293B"/>
                </a:solidFill>
                <a:latin typeface="Segoe UI"/>
              </a:rPr>
              <a:t>Espaçamento interno entre o conteúdo e a borda superior.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Padding-bottom: </a:t>
            </a:r>
            <a:r>
              <a:rPr sz="1450">
                <a:solidFill>
                  <a:srgbClr val="1E293B"/>
                </a:solidFill>
                <a:latin typeface="Segoe UI"/>
              </a:rPr>
              <a:t>Espaçamento interno entre o conteúdo e a borda inferior.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Shorthand Compacto: </a:t>
            </a:r>
            <a:r>
              <a:rPr sz="1450">
                <a:solidFill>
                  <a:srgbClr val="1E293B"/>
                </a:solidFill>
                <a:latin typeface="Segoe UI"/>
              </a:rPr>
              <a:t>padding: 15px; aplica 15 pixels nos quatro limites simultaneamente.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Padding na Prática: Criação de Caixas e Recuo Interno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Demonstração do padding em conjunto com borda ridge e plano de fundo contrastante.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23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exemplo_padding.html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&lt;title&gt; Espaçamento – Padding &lt;/title&gt;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&lt;style type="text/css"&gt;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p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padding-bottom: 15px;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padding-left: 15px;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padding-right: 15px;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padding-top: 15px;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border-width: thin;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border-color: #0000FF;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border-style: ridge;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background-color: #CCCCCC;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&lt;/style&gt;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&lt;body&gt;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&lt;p class="estilo1"&gt;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  Lorem Ipsum has been the industry's standard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  dummy text ever since the 1500s...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&lt;/p&gt;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&lt;/body&gt;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81844" y="1536192"/>
            <a:ext cx="142189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Comportamento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3604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Análise do Comportamento da Caixa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Respiro Perfeito de 15px: </a:t>
            </a:r>
            <a:r>
              <a:rPr sz="1400">
                <a:solidFill>
                  <a:srgbClr val="1E293B"/>
                </a:solidFill>
                <a:latin typeface="Segoe UI"/>
              </a:rPr>
              <a:t>Todas as quatro margens internas mantêm 15 pixels de distância entre as letras e a borda azul.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Preenchimento de Fundo Cinza: </a:t>
            </a:r>
            <a:r>
              <a:rPr sz="1400">
                <a:solidFill>
                  <a:srgbClr val="1E293B"/>
                </a:solidFill>
                <a:latin typeface="Segoe UI"/>
              </a:rPr>
              <a:t>O background-color: #CCCCCC estende-se por toda a área do padding, até tocar a borda.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Efeito 3D da Borda ridge: </a:t>
            </a:r>
            <a:r>
              <a:rPr sz="1400">
                <a:solidFill>
                  <a:srgbClr val="1E293B"/>
                </a:solidFill>
                <a:latin typeface="Segoe UI"/>
              </a:rPr>
              <a:t>O estilo ridge cria uma moldura entalhada elegante com profundidade visual.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Notação Shorthand Equivalente: </a:t>
            </a:r>
            <a:r>
              <a:rPr sz="1400">
                <a:solidFill>
                  <a:srgbClr val="1E293B"/>
                </a:solidFill>
                <a:latin typeface="Segoe UI"/>
              </a:rPr>
              <a:t>As quatro propriedades de padding podem ser resumidas em uma única declaração: padding: 15px;.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Margem vs Padding: </a:t>
            </a:r>
            <a:r>
              <a:rPr sz="1400">
                <a:solidFill>
                  <a:srgbClr val="1E293B"/>
                </a:solidFill>
                <a:latin typeface="Segoe UI"/>
              </a:rPr>
              <a:t>Margem empurra elementos vizinhos para longe; Padding empurra o conteúdo para dentro.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Controle de Dimensões: width, height e line-height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Propriedades para controle dimensional da geometria de caixas e entrelinhamento tipográfico.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24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1536192"/>
            <a:ext cx="103327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Vertical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height (Altura)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Propriedades: </a:t>
            </a:r>
            <a:r>
              <a:rPr sz="1400">
                <a:solidFill>
                  <a:srgbClr val="1E293B"/>
                </a:solidFill>
                <a:latin typeface="Segoe UI"/>
              </a:rPr>
              <a:t>height – define a altura de um elemento.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Valores: </a:t>
            </a:r>
            <a:r>
              <a:rPr sz="1400">
                <a:solidFill>
                  <a:srgbClr val="1E293B"/>
                </a:solidFill>
                <a:latin typeface="Segoe UI"/>
              </a:rPr>
              <a:t>Pixels fixos (px), porcentagem (%) ou auto.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Cálculo Automático (auto): </a:t>
            </a:r>
            <a:r>
              <a:rPr sz="1400">
                <a:solidFill>
                  <a:srgbClr val="1E293B"/>
                </a:solidFill>
                <a:latin typeface="Segoe UI"/>
              </a:rPr>
              <a:t>O navegador calcula a altura automaticamente com base no conteúdo interno.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Restrição em Inline: </a:t>
            </a:r>
            <a:r>
              <a:rPr sz="1400">
                <a:solidFill>
                  <a:srgbClr val="1E293B"/>
                </a:solidFill>
                <a:latin typeface="Segoe UI"/>
              </a:rPr>
              <a:t>Elementos inline nativos ignoram definições manuais de height.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47104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Horizontal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527048"/>
            <a:ext cx="19476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width (Largura)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Propriedades: </a:t>
            </a:r>
            <a:r>
              <a:rPr sz="1400">
                <a:solidFill>
                  <a:srgbClr val="1E293B"/>
                </a:solidFill>
                <a:latin typeface="Segoe UI"/>
              </a:rPr>
              <a:t>width – define a largura de um elemento.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Valores: </a:t>
            </a:r>
            <a:r>
              <a:rPr sz="1400">
                <a:solidFill>
                  <a:srgbClr val="1E293B"/>
                </a:solidFill>
                <a:latin typeface="Segoe UI"/>
              </a:rPr>
              <a:t>Pixels fixos (px), porcentagem (%) ou auto.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Responsividade: </a:t>
            </a:r>
            <a:r>
              <a:rPr sz="1400">
                <a:solidFill>
                  <a:srgbClr val="1E293B"/>
                </a:solidFill>
                <a:latin typeface="Segoe UI"/>
              </a:rPr>
              <a:t>Larguras em porcentagem (%) permitem que o elemento se ajuste à tela do dispositivo.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Largura em Bloco: </a:t>
            </a:r>
            <a:r>
              <a:rPr sz="1400">
                <a:solidFill>
                  <a:srgbClr val="1E293B"/>
                </a:solidFill>
                <a:latin typeface="Segoe UI"/>
              </a:rPr>
              <a:t>Elementos block ocupam por padrão 100% da largura do elemento pai.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15015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Tipografia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527048"/>
            <a:ext cx="19476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line-height (Entrelinha)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Propriedades: </a:t>
            </a:r>
            <a:r>
              <a:rPr sz="1400">
                <a:solidFill>
                  <a:srgbClr val="1E293B"/>
                </a:solidFill>
                <a:latin typeface="Segoe UI"/>
              </a:rPr>
              <a:t>line-height – especifica a distancia entre as linhas de um texto.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Valores: </a:t>
            </a:r>
            <a:r>
              <a:rPr sz="1400">
                <a:solidFill>
                  <a:srgbClr val="1E293B"/>
                </a:solidFill>
                <a:latin typeface="Segoe UI"/>
              </a:rPr>
              <a:t>Porcentagem (ex: 200%), número multiplicador (ex: 1.5) ou pixels (ex: 24px).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Conforto Visual: </a:t>
            </a:r>
            <a:r>
              <a:rPr sz="1400">
                <a:solidFill>
                  <a:srgbClr val="1E293B"/>
                </a:solidFill>
                <a:latin typeface="Segoe UI"/>
              </a:rPr>
              <a:t>Evita que linhas de texto fiquem coladas umas nas outras em blocos extensos.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Alinhamento Vertical: </a:t>
            </a:r>
            <a:r>
              <a:rPr sz="1400">
                <a:solidFill>
                  <a:srgbClr val="1E293B"/>
                </a:solidFill>
                <a:latin typeface="Segoe UI"/>
              </a:rPr>
              <a:t>Definir line-height igual à altura de um botão centraliza o texto na vertical.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Dimensões na Prática: Escala de Imagens e Entrelinha Dupla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Controle preciso de dimensões para mídias e estilização de parágrafos com entrelinha expandida.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25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dimensoes.css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&lt;style type="text/css"&gt;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  /* Imagem com dimensões naturais automáticas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img.normal  { height: auto; width: auto;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  /* Imagens com dimensões fixas (64px e 16px)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img.grande  { height: 64px; width: 64px;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img.pequeno { height: 16px; width: 16px;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  /* Parágrafo com entrelinha dupla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p.duplo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Line-height: 200%;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&lt;/style&gt;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15015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Aplicações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593591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Aplicações e Boas Práticas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Preservação de Proporção (auto): </a:t>
            </a:r>
            <a:r>
              <a:rPr sz="1400">
                <a:solidFill>
                  <a:srgbClr val="1E293B"/>
                </a:solidFill>
                <a:latin typeface="Segoe UI"/>
              </a:rPr>
              <a:t>Configurar height: auto e width: auto impede distorções geométricas na imagem.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Padronização de Ícones: </a:t>
            </a:r>
            <a:r>
              <a:rPr sz="1400">
                <a:solidFill>
                  <a:srgbClr val="1E293B"/>
                </a:solidFill>
                <a:latin typeface="Segoe UI"/>
              </a:rPr>
              <a:t>Classes como .pequeno (16px) e .grande (64px) asseguram uniformidade na interface gráfica.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Entrelinha Dupla (200%): </a:t>
            </a:r>
            <a:r>
              <a:rPr sz="1400">
                <a:solidFill>
                  <a:srgbClr val="1E293B"/>
                </a:solidFill>
                <a:latin typeface="Segoe UI"/>
              </a:rPr>
              <a:t>Aumenta o espaçamento entre linhas para o dobro da fonte, ideal para leitura acadêmica e impressão.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Prevenção de Quebras de Layout: </a:t>
            </a:r>
            <a:r>
              <a:rPr sz="1400">
                <a:solidFill>
                  <a:srgbClr val="1E293B"/>
                </a:solidFill>
                <a:latin typeface="Segoe UI"/>
              </a:rPr>
              <a:t>Declarar dimensões em imagens reserva espaço na tela antes do download concluir.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Acessibilidade Visual: </a:t>
            </a:r>
            <a:r>
              <a:rPr sz="1400">
                <a:solidFill>
                  <a:srgbClr val="1E293B"/>
                </a:solidFill>
                <a:latin typeface="Segoe UI"/>
              </a:rPr>
              <a:t>Entrelinhas entre 150% e 200% facilitam a leitura para pessoas com baixa visão ou dislexia.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Posicionamento de Elementos: Coordenadas, Fluxo e Overflow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Propriedades para retirar elementos do fluxo natural e controlar o comportamento de transbordamento.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26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6592" y="1536192"/>
            <a:ext cx="103327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99592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Coordenadas e Modos de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Position – Gestão de Posicionamento: </a:t>
            </a:r>
            <a:r>
              <a:rPr sz="1350">
                <a:solidFill>
                  <a:srgbClr val="1E293B"/>
                </a:solidFill>
                <a:latin typeface="Segoe UI"/>
              </a:rPr>
              <a:t>Position – define o comportamento da gestão do posicionamento. Valores: Absolute; Relative e Fixed.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Absolute (Absoluto): </a:t>
            </a:r>
            <a:r>
              <a:rPr sz="1350">
                <a:solidFill>
                  <a:srgbClr val="1E293B"/>
                </a:solidFill>
                <a:latin typeface="Segoe UI"/>
              </a:rPr>
              <a:t>Posiciona o elemento com coordenadas fixas em relação ao ancestral posicionado mais próximo.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Relative (Relativo): </a:t>
            </a:r>
            <a:r>
              <a:rPr sz="1350">
                <a:solidFill>
                  <a:srgbClr val="1E293B"/>
                </a:solidFill>
                <a:latin typeface="Segoe UI"/>
              </a:rPr>
              <a:t>Desloca o elemento a partir de onde ele estaria normalmente no fluxo.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Fixed (Fixo): </a:t>
            </a:r>
            <a:r>
              <a:rPr sz="1350">
                <a:solidFill>
                  <a:srgbClr val="1E293B"/>
                </a:solidFill>
                <a:latin typeface="Segoe UI"/>
              </a:rPr>
              <a:t>Fixa o elemento na tela (viewport); não rola junto com o documento.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Bottom: </a:t>
            </a:r>
            <a:r>
              <a:rPr sz="1350">
                <a:solidFill>
                  <a:srgbClr val="1E293B"/>
                </a:solidFill>
                <a:latin typeface="Segoe UI"/>
              </a:rPr>
              <a:t>distância do limite inferior de um determinado elemento relativa ao limite inferior do elemento que o contém;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Left / Right / Top: </a:t>
            </a:r>
            <a:r>
              <a:rPr sz="1350">
                <a:solidFill>
                  <a:srgbClr val="1E293B"/>
                </a:solidFill>
                <a:latin typeface="Segoe UI"/>
              </a:rPr>
              <a:t>distâncias relativas aos limites esquerdo, direito e superior.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70463" y="1536192"/>
            <a:ext cx="103327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Overflow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99592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Gestão de Overflow (Transbordamento)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Overflow – Transbordamento: </a:t>
            </a:r>
            <a:r>
              <a:rPr sz="1400">
                <a:solidFill>
                  <a:srgbClr val="1E293B"/>
                </a:solidFill>
                <a:latin typeface="Segoe UI"/>
              </a:rPr>
              <a:t>Overflow – especifica o que deve ocorrer quando o conteúdo de um elemento excede a sua área.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visible (Padrão): </a:t>
            </a:r>
            <a:r>
              <a:rPr sz="1400">
                <a:solidFill>
                  <a:srgbClr val="1E293B"/>
                </a:solidFill>
                <a:latin typeface="Segoe UI"/>
              </a:rPr>
              <a:t>O conteúdo excedente transborda visivelmente para fora da caixa sem gerar rolagem.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hidden (Oculto): </a:t>
            </a:r>
            <a:r>
              <a:rPr sz="1400">
                <a:solidFill>
                  <a:srgbClr val="1E293B"/>
                </a:solidFill>
                <a:latin typeface="Segoe UI"/>
              </a:rPr>
              <a:t>O conteúdo que ultrapassar as dimensões da caixa é sumariamente cortado.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scroll (Rolagem Ativa): </a:t>
            </a:r>
            <a:r>
              <a:rPr sz="1400">
                <a:solidFill>
                  <a:srgbClr val="1E293B"/>
                </a:solidFill>
                <a:latin typeface="Segoe UI"/>
              </a:rPr>
              <a:t>Habilita barras de rolagem permanentes para visualização do conteúdo excedente.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auto (Automático): </a:t>
            </a:r>
            <a:r>
              <a:rPr sz="1400">
                <a:solidFill>
                  <a:srgbClr val="1E293B"/>
                </a:solidFill>
                <a:latin typeface="Segoe UI"/>
              </a:rPr>
              <a:t>Exibe barras de rolagem apenas quando o conteúdo de fato exceder o espaço físico disponível.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Posicionamento na Prática: Coordenadas Absolutas e Rolagem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Demonstração de elementos com coordenadas fixadas na tela e container com rolagem ativa.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27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posicionamento.css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&lt;style type="text/css"&gt;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h1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position: absolute;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top: 50px;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left: 150px;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p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position: absolute;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top: 120px;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left: 100px;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right: 100px;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div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width: 150px;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height: 150px;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overflow: scroll;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&lt;/style&gt;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0463" y="1536192"/>
            <a:ext cx="103327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Execução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74903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Análise do Comportamento Visual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Saída do Fluxo Documental: </a:t>
            </a:r>
            <a:r>
              <a:rPr sz="1400">
                <a:solidFill>
                  <a:srgbClr val="1E293B"/>
                </a:solidFill>
                <a:latin typeface="Segoe UI"/>
              </a:rPr>
              <a:t>Elementos com position: absolute deixam de ocupar espaço físico na sequência natural do HTML.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Coordenadas Precisas: </a:t>
            </a:r>
            <a:r>
              <a:rPr sz="1400">
                <a:solidFill>
                  <a:srgbClr val="1E293B"/>
                </a:solidFill>
                <a:latin typeface="Segoe UI"/>
              </a:rPr>
              <a:t>O título &lt;h1&gt; fixa-se exatamente a 50px do topo e 150px da margem esquerda.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Estiramento Horizontal: </a:t>
            </a:r>
            <a:r>
              <a:rPr sz="1400">
                <a:solidFill>
                  <a:srgbClr val="1E293B"/>
                </a:solidFill>
                <a:latin typeface="Segoe UI"/>
              </a:rPr>
              <a:t>O parágrafo com left: 100px e right: 100px expande sua largura para tocar ambas as laterais.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Janela com overflow: scroll: </a:t>
            </a:r>
            <a:r>
              <a:rPr sz="1400">
                <a:solidFill>
                  <a:srgbClr val="1E293B"/>
                </a:solidFill>
                <a:latin typeface="Segoe UI"/>
              </a:rPr>
              <a:t>A &lt;div&gt; delimitada em 150x150px com overflow: scroll cria uma janela de rolagem autônoma.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Casos de Uso Reais: </a:t>
            </a:r>
            <a:r>
              <a:rPr sz="1400">
                <a:solidFill>
                  <a:srgbClr val="1E293B"/>
                </a:solidFill>
                <a:latin typeface="Segoe UI"/>
              </a:rPr>
              <a:t>Janelas modais, barras de menu fixas, banners flutuantes e painéis de dados compactos.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Formatação de Listas: Propriedades list-style-*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Configuração visual dos marcadores de listas ordenadas (&lt;ol&gt;) e não-ordenadas (&lt;ul&gt;).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28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88336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Marcadores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19476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Propriedades: </a:t>
            </a:r>
            <a:r>
              <a:rPr sz="1350">
                <a:solidFill>
                  <a:srgbClr val="1E293B"/>
                </a:solidFill>
                <a:latin typeface="Segoe UI"/>
              </a:rPr>
              <a:t>List-style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Type: </a:t>
            </a:r>
            <a:r>
              <a:rPr sz="1350">
                <a:solidFill>
                  <a:srgbClr val="1E293B"/>
                </a:solidFill>
                <a:latin typeface="Segoe UI"/>
              </a:rPr>
              <a:t>Type → define o tipo de marcador que precede cada item.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disc (Disco): </a:t>
            </a:r>
            <a:r>
              <a:rPr sz="1350">
                <a:solidFill>
                  <a:srgbClr val="1E293B"/>
                </a:solidFill>
                <a:latin typeface="Segoe UI"/>
              </a:rPr>
              <a:t>Círculo sólido preenchido (marcador padrão das listas &lt;ul&gt;).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circle (Círculo): </a:t>
            </a:r>
            <a:r>
              <a:rPr sz="1350">
                <a:solidFill>
                  <a:srgbClr val="1E293B"/>
                </a:solidFill>
                <a:latin typeface="Segoe UI"/>
              </a:rPr>
              <a:t>Círculo vazado em formato de anel estético.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square (Quadrado): </a:t>
            </a:r>
            <a:r>
              <a:rPr sz="1350">
                <a:solidFill>
                  <a:srgbClr val="1E293B"/>
                </a:solidFill>
                <a:latin typeface="Segoe UI"/>
              </a:rPr>
              <a:t>Quadrado geométrico sólido.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▪ none (Nenhum): </a:t>
            </a:r>
            <a:r>
              <a:rPr sz="1350">
                <a:solidFill>
                  <a:srgbClr val="1E293B"/>
                </a:solidFill>
                <a:latin typeface="Segoe UI"/>
              </a:rPr>
              <a:t>Remove todos os marcadores (essencial em menus de navegação).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7" y="1536192"/>
            <a:ext cx="149961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Posicionamento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527048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Position: </a:t>
            </a:r>
            <a:r>
              <a:rPr sz="1400">
                <a:solidFill>
                  <a:srgbClr val="1E293B"/>
                </a:solidFill>
                <a:latin typeface="Segoe UI"/>
              </a:rPr>
              <a:t>Position → especifica a posição em que o marcador deve ser inserido.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Opções Disponíveis: </a:t>
            </a:r>
            <a:r>
              <a:rPr sz="1400">
                <a:solidFill>
                  <a:srgbClr val="1E293B"/>
                </a:solidFill>
                <a:latin typeface="Segoe UI"/>
              </a:rPr>
              <a:t>Opções: inside ou outside.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outside (Padrão): </a:t>
            </a:r>
            <a:r>
              <a:rPr sz="1400">
                <a:solidFill>
                  <a:srgbClr val="1E293B"/>
                </a:solidFill>
                <a:latin typeface="Segoe UI"/>
              </a:rPr>
              <a:t>O marcador fica fora da caixa de texto do item; o texto alinha-se verticalmente.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inside: </a:t>
            </a:r>
            <a:r>
              <a:rPr sz="1400">
                <a:solidFill>
                  <a:srgbClr val="1E293B"/>
                </a:solidFill>
                <a:latin typeface="Segoe UI"/>
              </a:rPr>
              <a:t>O marcador fica dentro da caixa do texto; linhas subsequentes recuam sob o bullet.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81843" y="1536192"/>
            <a:ext cx="142189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Personalizado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527048"/>
            <a:ext cx="17145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Image: </a:t>
            </a:r>
            <a:r>
              <a:rPr sz="1400">
                <a:solidFill>
                  <a:srgbClr val="1E293B"/>
                </a:solidFill>
                <a:latin typeface="Segoe UI"/>
              </a:rPr>
              <a:t>Image → define uma imagem como marcada de cada item da lista;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Sintaxe: </a:t>
            </a:r>
            <a:r>
              <a:rPr sz="1400">
                <a:solidFill>
                  <a:srgbClr val="1E293B"/>
                </a:solidFill>
                <a:latin typeface="Segoe UI"/>
              </a:rPr>
              <a:t>list-style-image: url('bullet.png');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Customização Visual: </a:t>
            </a:r>
            <a:r>
              <a:rPr sz="1400">
                <a:solidFill>
                  <a:srgbClr val="1E293B"/>
                </a:solidFill>
                <a:latin typeface="Segoe UI"/>
              </a:rPr>
              <a:t>Permite usar ícones personalizados, setas ou logos da empresa como bullet points.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Fallback: </a:t>
            </a:r>
            <a:r>
              <a:rPr sz="1400">
                <a:solidFill>
                  <a:srgbClr val="1E293B"/>
                </a:solidFill>
                <a:latin typeface="Segoe UI"/>
              </a:rPr>
              <a:t>Sempre declare list-style-type junto para o caso de a imagem demorar para carregar.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Listas na Prática: Tipos de Marcadores e Menus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Comparação prática de estilos de marcadores e eliminação de pontos para construção de menus.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29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listas.html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&lt;head&gt;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&lt;style type="text/css"&gt;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ul.disco    { list-style-type: disc;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ul.circulo  { list-style-type: circle;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ul.quadrado { list-style-type: square;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ul.nenhum   { list-style-type: none;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&lt;/style&gt;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&lt;/head&gt;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&lt;body&gt;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&lt;ul class="circulo"&gt;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&lt;li&gt; maça &lt;/li&gt; &lt;li&gt; banana &lt;/li&gt; &lt;li&gt; laranja &lt;/li&gt;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&lt;/ul&gt;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&lt;ul class="disco"&gt;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&lt;li&gt; maça &lt;/li&gt; &lt;li&gt; banana &lt;/li&gt; &lt;li&gt; laranja &lt;/li&gt;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&lt;/ul&gt;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&lt;ul class="nenhum"&gt;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&lt;li&gt; maça &lt;/li&gt; &lt;li&gt; banana &lt;/li&gt; &lt;li&gt; laranja &lt;/li&gt;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&lt;/ul&gt;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&lt;/body&gt;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15015" y="1536192"/>
            <a:ext cx="11887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Menus e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593591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Aplicações no Design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ul.circulo (Círculo Vazado): </a:t>
            </a:r>
            <a:r>
              <a:rPr sz="1400">
                <a:solidFill>
                  <a:srgbClr val="1E293B"/>
                </a:solidFill>
                <a:latin typeface="Segoe UI"/>
              </a:rPr>
              <a:t>Exibe marcadores delicados com anéis sem preenchimento, ideais para subitens.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ul.disco (Disco Sólido): </a:t>
            </a:r>
            <a:r>
              <a:rPr sz="1400">
                <a:solidFill>
                  <a:srgbClr val="1E293B"/>
                </a:solidFill>
                <a:latin typeface="Segoe UI"/>
              </a:rPr>
              <a:t>Marcador padrão do HTML, ideal para enumerações gerais de primeiro nível.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ul.quadrado (Quadrado): </a:t>
            </a:r>
            <a:r>
              <a:rPr sz="1400">
                <a:solidFill>
                  <a:srgbClr val="1E293B"/>
                </a:solidFill>
                <a:latin typeface="Segoe UI"/>
              </a:rPr>
              <a:t>Confere aspecto moderno e geométrico para listas técnicas e documentações.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ul.nenhum (list-style: none): </a:t>
            </a:r>
            <a:r>
              <a:rPr sz="1400">
                <a:solidFill>
                  <a:srgbClr val="1E293B"/>
                </a:solidFill>
                <a:latin typeface="Segoe UI"/>
              </a:rPr>
              <a:t>A regra mais importante para o design moderno de interfaces na web.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Criação de Barras de Navegação: </a:t>
            </a:r>
            <a:r>
              <a:rPr sz="1400">
                <a:solidFill>
                  <a:srgbClr val="1E293B"/>
                </a:solidFill>
                <a:latin typeface="Segoe UI"/>
              </a:rPr>
              <a:t>Menus horizontais e verticais são construídos em &lt;ul&gt; sem bullets combinados com display inline ou flex.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Pseudo-Classes: Estados Interativos e Dinâmicos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Permitem associar efeitos especiais aos seletores CSS de acordo com as ações do usuário.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30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 rIns="0" bIns="0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pseudo_classes.css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/* Pseudo-Classe para âncoras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a:link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color: #FF0000; /* link ainda não visitado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a:visited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color: #00FF00; /* link já visitado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a:hover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color: #FF00FF; /* link sob o mouse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}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a:active {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    color: #0000FF; /* link selecionado */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04119" y="1536192"/>
            <a:ext cx="149961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Interatividade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Conceito e Ordem Precedente LVHA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975104"/>
            <a:ext cx="49011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O que são Pseudo-Classes?: </a:t>
            </a:r>
            <a:r>
              <a:rPr sz="1400">
                <a:solidFill>
                  <a:srgbClr val="1E293B"/>
                </a:solidFill>
                <a:latin typeface="Segoe UI"/>
              </a:rPr>
              <a:t>Permitem associar efeitos especiais aos seletores CSS quando o elemento entra em um estado interativo.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Feedback Imediato ao Usuário: </a:t>
            </a:r>
            <a:r>
              <a:rPr sz="1400">
                <a:solidFill>
                  <a:srgbClr val="1E293B"/>
                </a:solidFill>
                <a:latin typeface="Segoe UI"/>
              </a:rPr>
              <a:t>Muda a cor do link ao passar o cursor, sinalizando capacidade de clique.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Regra de Ouro LVHA: </a:t>
            </a:r>
            <a:r>
              <a:rPr sz="1400">
                <a:solidFill>
                  <a:srgbClr val="1E293B"/>
                </a:solidFill>
                <a:latin typeface="Segoe UI"/>
              </a:rPr>
              <a:t>A ordem de escrita no CSS deve ser obrigatoriamente: Link → Visited → Hover → Active.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Por que Seguir a Ordem LVHA?: </a:t>
            </a:r>
            <a:r>
              <a:rPr sz="1400">
                <a:solidFill>
                  <a:srgbClr val="1E293B"/>
                </a:solidFill>
                <a:latin typeface="Segoe UI"/>
              </a:rPr>
              <a:t>Se a:hover for declarado antes de a:visited, a cor de hover deixará de funcionar em links já visitados!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Uso em Botões Modernos: </a:t>
            </a:r>
            <a:r>
              <a:rPr sz="1400">
                <a:solidFill>
                  <a:srgbClr val="1E293B"/>
                </a:solidFill>
                <a:latin typeface="Segoe UI"/>
              </a:rPr>
              <a:t>:hover e :active são amplamente utilizados em botões corporativos para indicar cliques.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Propriedade Display I: Comportamento de Bloco (block)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A propriedade display especifica o comportamento do modelo de formatação visual do elemento.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31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58868" y="1536192"/>
            <a:ext cx="111099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91820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Comportamento de Elementos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Propriedade Display: </a:t>
            </a:r>
            <a:r>
              <a:rPr sz="1450">
                <a:solidFill>
                  <a:srgbClr val="1E293B"/>
                </a:solidFill>
                <a:latin typeface="Segoe UI"/>
              </a:rPr>
              <a:t>Propriedade que especifica como o elemento será exibido.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Temos 2 tipos de configurações: </a:t>
            </a:r>
            <a:r>
              <a:rPr sz="1450">
                <a:solidFill>
                  <a:srgbClr val="1E293B"/>
                </a:solidFill>
                <a:latin typeface="Segoe UI"/>
              </a:rPr>
              <a:t>Temos 2 tipos de configurações: block e inline.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Quebra de Linha Obrigatória: </a:t>
            </a:r>
            <a:r>
              <a:rPr sz="1450">
                <a:solidFill>
                  <a:srgbClr val="1E293B"/>
                </a:solidFill>
                <a:latin typeface="Segoe UI"/>
              </a:rPr>
              <a:t>Elementos block sempre iniciam automaticamente em uma nova linha.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Ocupação de 100% da Largura: </a:t>
            </a:r>
            <a:r>
              <a:rPr sz="1450">
                <a:solidFill>
                  <a:srgbClr val="1E293B"/>
                </a:solidFill>
                <a:latin typeface="Segoe UI"/>
              </a:rPr>
              <a:t>Por padrão, estendem-se horizontalmente para preencher toda a largura disponível.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Suporte Total a Dimensões: </a:t>
            </a:r>
            <a:r>
              <a:rPr sz="1450">
                <a:solidFill>
                  <a:srgbClr val="1E293B"/>
                </a:solidFill>
                <a:latin typeface="Segoe UI"/>
              </a:rPr>
              <a:t>Respeitam fielmente definições de width, height, margin e padding.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81844" y="1536192"/>
            <a:ext cx="142189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Tags de Bloco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60730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Elementos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Elementos block nativos: </a:t>
            </a:r>
            <a:r>
              <a:rPr sz="1450">
                <a:solidFill>
                  <a:srgbClr val="1E293B"/>
                </a:solidFill>
                <a:latin typeface="Segoe UI"/>
              </a:rPr>
              <a:t>Exemplos de tags que geram blocos estruturais no documento: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&lt;div&gt;: </a:t>
            </a:r>
            <a:r>
              <a:rPr sz="1450">
                <a:solidFill>
                  <a:srgbClr val="1E293B"/>
                </a:solidFill>
                <a:latin typeface="Segoe UI"/>
              </a:rPr>
              <a:t>Container genérico por excelência para divisão de seções.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&lt;h1&gt; - &lt;h6&gt;: </a:t>
            </a:r>
            <a:r>
              <a:rPr sz="1450">
                <a:solidFill>
                  <a:srgbClr val="1E293B"/>
                </a:solidFill>
                <a:latin typeface="Segoe UI"/>
              </a:rPr>
              <a:t>Títulos estruturais e cabeçalhos de conteúdo.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&lt;p&gt;: </a:t>
            </a:r>
            <a:r>
              <a:rPr sz="1450">
                <a:solidFill>
                  <a:srgbClr val="1E293B"/>
                </a:solidFill>
                <a:latin typeface="Segoe UI"/>
              </a:rPr>
              <a:t>Parágrafos de texto com respiro vertical nativo.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&lt;form&gt;: </a:t>
            </a:r>
            <a:r>
              <a:rPr sz="1450">
                <a:solidFill>
                  <a:srgbClr val="1E293B"/>
                </a:solidFill>
                <a:latin typeface="Segoe UI"/>
              </a:rPr>
              <a:t>Formulários de entrada de dados e envio de requisições.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&lt;header&gt; e &lt;footer&gt;: </a:t>
            </a:r>
            <a:r>
              <a:rPr sz="1450">
                <a:solidFill>
                  <a:srgbClr val="1E293B"/>
                </a:solidFill>
                <a:latin typeface="Segoe UI"/>
              </a:rPr>
              <a:t>Cabeçalhos institucionais e rodapés semânticos.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▪ &lt;section&gt;: </a:t>
            </a:r>
            <a:r>
              <a:rPr sz="1450">
                <a:solidFill>
                  <a:srgbClr val="1E293B"/>
                </a:solidFill>
                <a:latin typeface="Segoe UI"/>
              </a:rPr>
              <a:t>Seções temáticas independentes no documento.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Propriedade Display II: Elementos Inline e Ocultação (none)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Elementos inline fluem no texto e display: none remove o elemento temporariamente da renderização.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32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09744" y="1536192"/>
            <a:ext cx="9601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Elementos inline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Elementos inline nativos: </a:t>
            </a:r>
            <a:r>
              <a:rPr sz="1400">
                <a:solidFill>
                  <a:srgbClr val="1E293B"/>
                </a:solidFill>
                <a:latin typeface="Segoe UI"/>
              </a:rPr>
              <a:t>Tags que fluem continuamente na mesma linha ao lado de outros elementos textuais: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&lt;span&gt;: </a:t>
            </a:r>
            <a:r>
              <a:rPr sz="1400">
                <a:solidFill>
                  <a:srgbClr val="1E293B"/>
                </a:solidFill>
                <a:latin typeface="Segoe UI"/>
              </a:rPr>
              <a:t>Container em linha por excelência para destacar palavras dentro de frases.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&lt;a&gt;: </a:t>
            </a:r>
            <a:r>
              <a:rPr sz="1400">
                <a:solidFill>
                  <a:srgbClr val="1E293B"/>
                </a:solidFill>
                <a:latin typeface="Segoe UI"/>
              </a:rPr>
              <a:t>Hiperlinks de navegação que ficam inseridos dentro de parágrafos.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&lt;img&gt;: </a:t>
            </a:r>
            <a:r>
              <a:rPr sz="1400">
                <a:solidFill>
                  <a:srgbClr val="1E293B"/>
                </a:solidFill>
                <a:latin typeface="Segoe UI"/>
              </a:rPr>
              <a:t>Elementos de imagem embutidos no fluxo da linha de texto.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Largura Limitada ao Conteúdo: </a:t>
            </a:r>
            <a:r>
              <a:rPr sz="1400">
                <a:solidFill>
                  <a:srgbClr val="1E293B"/>
                </a:solidFill>
                <a:latin typeface="Segoe UI"/>
              </a:rPr>
              <a:t>Ocupam estritamente o espaço necessário para envolver seus próprios dados internos.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Restrição Dimensional: </a:t>
            </a:r>
            <a:r>
              <a:rPr sz="1400">
                <a:solidFill>
                  <a:srgbClr val="1E293B"/>
                </a:solidFill>
                <a:latin typeface="Segoe UI"/>
              </a:rPr>
              <a:t>Não aceitam propriedades width e height (permanecem auto).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26396" y="1536192"/>
            <a:ext cx="157734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Manipulação 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4518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Display: 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Display:none;: </a:t>
            </a:r>
            <a:r>
              <a:rPr sz="1400">
                <a:solidFill>
                  <a:srgbClr val="1E293B"/>
                </a:solidFill>
                <a:latin typeface="Segoe UI"/>
              </a:rPr>
              <a:t>utilizado especialmente em javascript para esconder e exibir os elementos sem ter que apagá-los do documento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Remoção do Fluxo de Render: </a:t>
            </a:r>
            <a:r>
              <a:rPr sz="1400">
                <a:solidFill>
                  <a:srgbClr val="1E293B"/>
                </a:solidFill>
                <a:latin typeface="Segoe UI"/>
              </a:rPr>
              <a:t>Oculta totalmente o elemento; a página se fecha como se ele não existisse.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Não Ocupa Espaço: </a:t>
            </a:r>
            <a:r>
              <a:rPr sz="1400">
                <a:solidFill>
                  <a:srgbClr val="1E293B"/>
                </a:solidFill>
                <a:latin typeface="Segoe UI"/>
              </a:rPr>
              <a:t>Ao contrário de visibility: hidden, o display: none faz com que o layout feche o espaço ocupado.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Manipulação Dinâmica: </a:t>
            </a:r>
            <a:r>
              <a:rPr sz="1400">
                <a:solidFill>
                  <a:srgbClr val="1E293B"/>
                </a:solidFill>
                <a:latin typeface="Segoe UI"/>
              </a:rPr>
              <a:t>Abas, modais, acordeões e menus hambúrguer alternam entre display: none e display: block.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Preservação dos Dados: </a:t>
            </a:r>
            <a:r>
              <a:rPr sz="1400">
                <a:solidFill>
                  <a:srgbClr val="1E293B"/>
                </a:solidFill>
                <a:latin typeface="Segoe UI"/>
              </a:rPr>
              <a:t>O elemento permanece intacto na memória DOM, pronto para ser reexibido instantaneamente.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Síntese da Aula: Fundamentos do CSS e Boas Práticas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80" i="1">
                <a:solidFill>
                  <a:srgbClr val="334155"/>
                </a:solidFill>
                <a:latin typeface="Segoe UI"/>
              </a:defRPr>
            </a:pPr>
            <a:r>
              <a:t>Revisão consolidada dos pilares do CSS aprendidos na Aula 02 para desenvolvimento profissional.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33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6936" y="1536192"/>
            <a:ext cx="96012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Pilares Fundamentais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Folhas Externas (.css): </a:t>
            </a:r>
            <a:r>
              <a:rPr sz="1400">
                <a:solidFill>
                  <a:srgbClr val="1E293B"/>
                </a:solidFill>
                <a:latin typeface="Segoe UI"/>
              </a:rPr>
              <a:t>Padrão profissional obrigatório para reuso, manutenção e cache eficiente.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Sintaxe da Regra: </a:t>
            </a:r>
            <a:r>
              <a:rPr sz="1400">
                <a:solidFill>
                  <a:srgbClr val="1E293B"/>
                </a:solidFill>
                <a:latin typeface="Segoe UI"/>
              </a:rPr>
              <a:t>Seletor { propriedade: valor; } com pontuação rigorosa (: e ;).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Classes (.classe): </a:t>
            </a:r>
            <a:r>
              <a:rPr sz="1400">
                <a:solidFill>
                  <a:srgbClr val="1E293B"/>
                </a:solidFill>
                <a:latin typeface="Segoe UI"/>
              </a:rPr>
              <a:t>Promovem estilos modulares e independentes da tag HTML.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Unidades de Medida: </a:t>
            </a:r>
            <a:r>
              <a:rPr sz="1400">
                <a:solidFill>
                  <a:srgbClr val="1E293B"/>
                </a:solidFill>
                <a:latin typeface="Segoe UI"/>
              </a:rPr>
              <a:t>px para precisão de bordas; em e % para tipografia responsiva.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4828" y="1536192"/>
            <a:ext cx="111099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Estrutura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527048"/>
            <a:ext cx="202539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Box Model e Display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Box Model Completo: </a:t>
            </a:r>
            <a:r>
              <a:rPr sz="1400">
                <a:solidFill>
                  <a:srgbClr val="1E293B"/>
                </a:solidFill>
                <a:latin typeface="Segoe UI"/>
              </a:rPr>
              <a:t>Conteúdo → Padding (respiro interno) → Borda → Margem (espaço externo).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Block vs Inline: </a:t>
            </a:r>
            <a:r>
              <a:rPr sz="1400">
                <a:solidFill>
                  <a:srgbClr val="1E293B"/>
                </a:solidFill>
                <a:latin typeface="Segoe UI"/>
              </a:rPr>
              <a:t>Block ocupa 100% e quebra linha; Inline flui no texto contínuo.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Display: none: </a:t>
            </a:r>
            <a:r>
              <a:rPr sz="1400">
                <a:solidFill>
                  <a:srgbClr val="1E293B"/>
                </a:solidFill>
                <a:latin typeface="Segoe UI"/>
              </a:rPr>
              <a:t>Oculta elementos temporariamente sem excluí-los do DOM.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Posicionamento: </a:t>
            </a:r>
            <a:r>
              <a:rPr sz="1400">
                <a:solidFill>
                  <a:srgbClr val="1E293B"/>
                </a:solidFill>
                <a:latin typeface="Segoe UI"/>
              </a:rPr>
              <a:t>Absolute e Fixed para coordenadas livres fora do fluxo natural.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81843" y="1536192"/>
            <a:ext cx="142189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Boas Práticas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527048"/>
            <a:ext cx="17145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Checklist do Desenvolvedor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1975104"/>
            <a:ext cx="325526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Evite Estilos Inline: </a:t>
            </a:r>
            <a:r>
              <a:rPr sz="1400">
                <a:solidFill>
                  <a:srgbClr val="1E293B"/>
                </a:solidFill>
                <a:latin typeface="Segoe UI"/>
              </a:rPr>
              <a:t>Não utilize style='...' no corpo das tags em projetos web profissionais.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Regra LVHA: </a:t>
            </a:r>
            <a:r>
              <a:rPr sz="1400">
                <a:solidFill>
                  <a:srgbClr val="1E293B"/>
                </a:solidFill>
                <a:latin typeface="Segoe UI"/>
              </a:rPr>
              <a:t>Em pseudoclasses de links, ordene sempre: Link, Visited, Hover, Active.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Shorthand Consciente: </a:t>
            </a:r>
            <a:r>
              <a:rPr sz="1400">
                <a:solidFill>
                  <a:srgbClr val="1E293B"/>
                </a:solidFill>
                <a:latin typeface="Segoe UI"/>
              </a:rPr>
              <a:t>Use a regra horária (Top Right Bottom Left) para margens e paddings enxutos.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▪ Próximos Passos: </a:t>
            </a:r>
            <a:r>
              <a:rPr sz="1400">
                <a:solidFill>
                  <a:srgbClr val="1E293B"/>
                </a:solidFill>
                <a:latin typeface="Segoe UI"/>
              </a:rPr>
              <a:t>Próxima aula: CSS3 Avançado — Flexbox, CSS Grid e Design Responsivo!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5072D61066C646B849882305FEB802" ma:contentTypeVersion="3" ma:contentTypeDescription="Crie um novo documento." ma:contentTypeScope="" ma:versionID="5f08bb0a58a8fd524af781634e5d2631">
  <xsd:schema xmlns:xsd="http://www.w3.org/2001/XMLSchema" xmlns:xs="http://www.w3.org/2001/XMLSchema" xmlns:p="http://schemas.microsoft.com/office/2006/metadata/properties" xmlns:ns2="901b65c7-a870-436c-ac94-d229665271b6" targetNamespace="http://schemas.microsoft.com/office/2006/metadata/properties" ma:root="true" ma:fieldsID="c15528e185ce699ad251248bcf42f1ab" ns2:_="">
    <xsd:import namespace="901b65c7-a870-436c-ac94-d229665271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1b65c7-a870-436c-ac94-d229665271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A468FB-1611-4246-8718-3C5ECBF7A25B}"/>
</file>

<file path=customXml/itemProps2.xml><?xml version="1.0" encoding="utf-8"?>
<ds:datastoreItem xmlns:ds="http://schemas.openxmlformats.org/officeDocument/2006/customXml" ds:itemID="{08121738-520B-4EE9-A062-33124D1A70E5}"/>
</file>

<file path=customXml/itemProps3.xml><?xml version="1.0" encoding="utf-8"?>
<ds:datastoreItem xmlns:ds="http://schemas.openxmlformats.org/officeDocument/2006/customXml" ds:itemID="{08577A78-D0DC-4C46-917B-40F94B8789F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0x0101002B5072D61066C646B849882305FEB802</vt:lpwstr>
  </property>
</Properties>
</file>